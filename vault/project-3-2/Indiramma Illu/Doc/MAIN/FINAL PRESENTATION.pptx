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8" r:id="rId3"/>
    <p:sldId id="259" r:id="rId4"/>
    <p:sldId id="271" r:id="rId5"/>
    <p:sldId id="272" r:id="rId6"/>
    <p:sldId id="273" r:id="rId7"/>
    <p:sldId id="274" r:id="rId8"/>
    <p:sldId id="275" r:id="rId9"/>
    <p:sldId id="276" r:id="rId10"/>
    <p:sldId id="277" r:id="rId11"/>
    <p:sldId id="278" r:id="rId12"/>
    <p:sldId id="279" r:id="rId13"/>
    <p:sldId id="280"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38" autoAdjust="0"/>
    <p:restoredTop sz="94660"/>
  </p:normalViewPr>
  <p:slideViewPr>
    <p:cSldViewPr snapToGrid="0">
      <p:cViewPr>
        <p:scale>
          <a:sx n="100" d="100"/>
          <a:sy n="100" d="100"/>
        </p:scale>
        <p:origin x="1002" y="31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D29AA3-B38B-428E-9EBF-E542998A6BC1}" type="datetimeFigureOut">
              <a:rPr lang="en-IN" smtClean="0"/>
              <a:t>09-04-2026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BD4CBC-DCB2-4DD7-A897-0EF251C6FA77}" type="slidenum">
              <a:rPr lang="en-IN" smtClean="0"/>
              <a:t>‹#›</a:t>
            </a:fld>
            <a:endParaRPr lang="en-IN"/>
          </a:p>
        </p:txBody>
      </p:sp>
    </p:spTree>
    <p:extLst>
      <p:ext uri="{BB962C8B-B14F-4D97-AF65-F5344CB8AC3E}">
        <p14:creationId xmlns:p14="http://schemas.microsoft.com/office/powerpoint/2010/main" val="29654464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5BD4CBC-DCB2-4DD7-A897-0EF251C6FA77}" type="slidenum">
              <a:rPr lang="en-IN" smtClean="0"/>
              <a:t>2</a:t>
            </a:fld>
            <a:endParaRPr lang="en-IN"/>
          </a:p>
        </p:txBody>
      </p:sp>
    </p:spTree>
    <p:extLst>
      <p:ext uri="{BB962C8B-B14F-4D97-AF65-F5344CB8AC3E}">
        <p14:creationId xmlns:p14="http://schemas.microsoft.com/office/powerpoint/2010/main" val="13237152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60BE8-33DC-89B7-E049-412EC5403C7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6F60ACD-FBEA-E48A-8EC0-25368EB3CAB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CC3F8D7-8730-064D-C279-D0826ED141DB}"/>
              </a:ext>
            </a:extLst>
          </p:cNvPr>
          <p:cNvSpPr>
            <a:spLocks noGrp="1"/>
          </p:cNvSpPr>
          <p:nvPr>
            <p:ph type="dt" sz="half" idx="10"/>
          </p:nvPr>
        </p:nvSpPr>
        <p:spPr/>
        <p:txBody>
          <a:bodyPr/>
          <a:lstStyle/>
          <a:p>
            <a:fld id="{054E98DA-D4BE-7248-A04D-81FF24A93C62}" type="datetimeFigureOut">
              <a:rPr lang="en-US" smtClean="0"/>
              <a:t>4/9/2026</a:t>
            </a:fld>
            <a:endParaRPr lang="en-US"/>
          </a:p>
        </p:txBody>
      </p:sp>
      <p:sp>
        <p:nvSpPr>
          <p:cNvPr id="5" name="Footer Placeholder 4">
            <a:extLst>
              <a:ext uri="{FF2B5EF4-FFF2-40B4-BE49-F238E27FC236}">
                <a16:creationId xmlns:a16="http://schemas.microsoft.com/office/drawing/2014/main" id="{B14D828D-9056-4A1F-78AD-CCD90F53FC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D5611A-3FA6-5DA4-40EC-645C828A075D}"/>
              </a:ext>
            </a:extLst>
          </p:cNvPr>
          <p:cNvSpPr>
            <a:spLocks noGrp="1"/>
          </p:cNvSpPr>
          <p:nvPr>
            <p:ph type="sldNum" sz="quarter" idx="12"/>
          </p:nvPr>
        </p:nvSpPr>
        <p:spPr/>
        <p:txBody>
          <a:bodyPr/>
          <a:lstStyle/>
          <a:p>
            <a:fld id="{E989A12E-0181-044F-A966-06AB2A4B60DB}" type="slidenum">
              <a:rPr lang="en-US" smtClean="0"/>
              <a:t>‹#›</a:t>
            </a:fld>
            <a:endParaRPr lang="en-US"/>
          </a:p>
        </p:txBody>
      </p:sp>
    </p:spTree>
    <p:extLst>
      <p:ext uri="{BB962C8B-B14F-4D97-AF65-F5344CB8AC3E}">
        <p14:creationId xmlns:p14="http://schemas.microsoft.com/office/powerpoint/2010/main" val="38442273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C30E3E-74D6-EE5A-2CED-8F473B2EDA0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7C7CD50-D599-4603-6A4A-A15CC218863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26C8564-4DDA-4C0C-CED9-A9179935DC7B}"/>
              </a:ext>
            </a:extLst>
          </p:cNvPr>
          <p:cNvSpPr>
            <a:spLocks noGrp="1"/>
          </p:cNvSpPr>
          <p:nvPr>
            <p:ph type="dt" sz="half" idx="10"/>
          </p:nvPr>
        </p:nvSpPr>
        <p:spPr/>
        <p:txBody>
          <a:bodyPr/>
          <a:lstStyle/>
          <a:p>
            <a:fld id="{054E98DA-D4BE-7248-A04D-81FF24A93C62}" type="datetimeFigureOut">
              <a:rPr lang="en-US" smtClean="0"/>
              <a:t>4/9/2026</a:t>
            </a:fld>
            <a:endParaRPr lang="en-US"/>
          </a:p>
        </p:txBody>
      </p:sp>
      <p:sp>
        <p:nvSpPr>
          <p:cNvPr id="5" name="Footer Placeholder 4">
            <a:extLst>
              <a:ext uri="{FF2B5EF4-FFF2-40B4-BE49-F238E27FC236}">
                <a16:creationId xmlns:a16="http://schemas.microsoft.com/office/drawing/2014/main" id="{C5FA383C-F653-A7A6-5202-CB36223FDA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498561-CC63-8248-B636-CEA3338A3693}"/>
              </a:ext>
            </a:extLst>
          </p:cNvPr>
          <p:cNvSpPr>
            <a:spLocks noGrp="1"/>
          </p:cNvSpPr>
          <p:nvPr>
            <p:ph type="sldNum" sz="quarter" idx="12"/>
          </p:nvPr>
        </p:nvSpPr>
        <p:spPr/>
        <p:txBody>
          <a:bodyPr/>
          <a:lstStyle/>
          <a:p>
            <a:fld id="{E989A12E-0181-044F-A966-06AB2A4B60DB}" type="slidenum">
              <a:rPr lang="en-US" smtClean="0"/>
              <a:t>‹#›</a:t>
            </a:fld>
            <a:endParaRPr lang="en-US"/>
          </a:p>
        </p:txBody>
      </p:sp>
    </p:spTree>
    <p:extLst>
      <p:ext uri="{BB962C8B-B14F-4D97-AF65-F5344CB8AC3E}">
        <p14:creationId xmlns:p14="http://schemas.microsoft.com/office/powerpoint/2010/main" val="37960772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2F004-CDDA-C963-70C7-5982879EAFD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A47B055-B210-D1A7-E485-81D9CC14003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892F82B-CC2A-91D3-0C11-BA7C1C7A697D}"/>
              </a:ext>
            </a:extLst>
          </p:cNvPr>
          <p:cNvSpPr>
            <a:spLocks noGrp="1"/>
          </p:cNvSpPr>
          <p:nvPr>
            <p:ph type="dt" sz="half" idx="10"/>
          </p:nvPr>
        </p:nvSpPr>
        <p:spPr/>
        <p:txBody>
          <a:bodyPr/>
          <a:lstStyle/>
          <a:p>
            <a:fld id="{054E98DA-D4BE-7248-A04D-81FF24A93C62}" type="datetimeFigureOut">
              <a:rPr lang="en-US" smtClean="0"/>
              <a:t>4/9/2026</a:t>
            </a:fld>
            <a:endParaRPr lang="en-US"/>
          </a:p>
        </p:txBody>
      </p:sp>
      <p:sp>
        <p:nvSpPr>
          <p:cNvPr id="5" name="Footer Placeholder 4">
            <a:extLst>
              <a:ext uri="{FF2B5EF4-FFF2-40B4-BE49-F238E27FC236}">
                <a16:creationId xmlns:a16="http://schemas.microsoft.com/office/drawing/2014/main" id="{AA4A1882-0779-4B6F-8A65-A5D4720189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26DE8D-30EF-18F6-6687-F1A0DA3A3198}"/>
              </a:ext>
            </a:extLst>
          </p:cNvPr>
          <p:cNvSpPr>
            <a:spLocks noGrp="1"/>
          </p:cNvSpPr>
          <p:nvPr>
            <p:ph type="sldNum" sz="quarter" idx="12"/>
          </p:nvPr>
        </p:nvSpPr>
        <p:spPr/>
        <p:txBody>
          <a:bodyPr/>
          <a:lstStyle/>
          <a:p>
            <a:fld id="{E989A12E-0181-044F-A966-06AB2A4B60DB}" type="slidenum">
              <a:rPr lang="en-US" smtClean="0"/>
              <a:t>‹#›</a:t>
            </a:fld>
            <a:endParaRPr lang="en-US"/>
          </a:p>
        </p:txBody>
      </p:sp>
    </p:spTree>
    <p:extLst>
      <p:ext uri="{BB962C8B-B14F-4D97-AF65-F5344CB8AC3E}">
        <p14:creationId xmlns:p14="http://schemas.microsoft.com/office/powerpoint/2010/main" val="3629829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BBD23-50E0-7AF0-EB9A-8C725B2D3D6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6EDEF35-D7C7-0800-3D8A-6A012A717B6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D91BB66-F228-156C-02AF-9D7A601F2FE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24C1D33-0106-C59B-8086-1342D7AB14E5}"/>
              </a:ext>
            </a:extLst>
          </p:cNvPr>
          <p:cNvSpPr>
            <a:spLocks noGrp="1"/>
          </p:cNvSpPr>
          <p:nvPr>
            <p:ph type="dt" sz="half" idx="10"/>
          </p:nvPr>
        </p:nvSpPr>
        <p:spPr/>
        <p:txBody>
          <a:bodyPr/>
          <a:lstStyle/>
          <a:p>
            <a:fld id="{054E98DA-D4BE-7248-A04D-81FF24A93C62}" type="datetimeFigureOut">
              <a:rPr lang="en-US" smtClean="0"/>
              <a:t>4/9/2026</a:t>
            </a:fld>
            <a:endParaRPr lang="en-US"/>
          </a:p>
        </p:txBody>
      </p:sp>
      <p:sp>
        <p:nvSpPr>
          <p:cNvPr id="6" name="Footer Placeholder 5">
            <a:extLst>
              <a:ext uri="{FF2B5EF4-FFF2-40B4-BE49-F238E27FC236}">
                <a16:creationId xmlns:a16="http://schemas.microsoft.com/office/drawing/2014/main" id="{94669C5C-CE41-42F4-1A6E-596505585B2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CCAEEDA-D0AB-61FF-9167-C0ACBB4348C9}"/>
              </a:ext>
            </a:extLst>
          </p:cNvPr>
          <p:cNvSpPr>
            <a:spLocks noGrp="1"/>
          </p:cNvSpPr>
          <p:nvPr>
            <p:ph type="sldNum" sz="quarter" idx="12"/>
          </p:nvPr>
        </p:nvSpPr>
        <p:spPr/>
        <p:txBody>
          <a:bodyPr/>
          <a:lstStyle/>
          <a:p>
            <a:fld id="{E989A12E-0181-044F-A966-06AB2A4B60DB}" type="slidenum">
              <a:rPr lang="en-US" smtClean="0"/>
              <a:t>‹#›</a:t>
            </a:fld>
            <a:endParaRPr lang="en-US"/>
          </a:p>
        </p:txBody>
      </p:sp>
    </p:spTree>
    <p:extLst>
      <p:ext uri="{BB962C8B-B14F-4D97-AF65-F5344CB8AC3E}">
        <p14:creationId xmlns:p14="http://schemas.microsoft.com/office/powerpoint/2010/main" val="6913916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74498-2575-8DFF-22C8-5ED79743254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D09504A-39A5-0E4E-7D9F-15539CF3BB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CC3E26B-7E81-B3AA-CD2C-6F058C131D9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CA43CFD-A1C8-52D4-F1B5-79E76EBA08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C11061C-C417-DFEC-C225-C4F0E6F736D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D876CDB-1CA8-FE85-3ACE-7D91EDA77FDF}"/>
              </a:ext>
            </a:extLst>
          </p:cNvPr>
          <p:cNvSpPr>
            <a:spLocks noGrp="1"/>
          </p:cNvSpPr>
          <p:nvPr>
            <p:ph type="dt" sz="half" idx="10"/>
          </p:nvPr>
        </p:nvSpPr>
        <p:spPr/>
        <p:txBody>
          <a:bodyPr/>
          <a:lstStyle/>
          <a:p>
            <a:fld id="{054E98DA-D4BE-7248-A04D-81FF24A93C62}" type="datetimeFigureOut">
              <a:rPr lang="en-US" smtClean="0"/>
              <a:t>4/9/2026</a:t>
            </a:fld>
            <a:endParaRPr lang="en-US"/>
          </a:p>
        </p:txBody>
      </p:sp>
      <p:sp>
        <p:nvSpPr>
          <p:cNvPr id="8" name="Footer Placeholder 7">
            <a:extLst>
              <a:ext uri="{FF2B5EF4-FFF2-40B4-BE49-F238E27FC236}">
                <a16:creationId xmlns:a16="http://schemas.microsoft.com/office/drawing/2014/main" id="{D7343FBE-7C14-898E-3BE1-85166DDC6EE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5CB3FF8-3AD4-9199-AF5F-D8A11E5DA20F}"/>
              </a:ext>
            </a:extLst>
          </p:cNvPr>
          <p:cNvSpPr>
            <a:spLocks noGrp="1"/>
          </p:cNvSpPr>
          <p:nvPr>
            <p:ph type="sldNum" sz="quarter" idx="12"/>
          </p:nvPr>
        </p:nvSpPr>
        <p:spPr/>
        <p:txBody>
          <a:bodyPr/>
          <a:lstStyle/>
          <a:p>
            <a:fld id="{E989A12E-0181-044F-A966-06AB2A4B60DB}" type="slidenum">
              <a:rPr lang="en-US" smtClean="0"/>
              <a:t>‹#›</a:t>
            </a:fld>
            <a:endParaRPr lang="en-US"/>
          </a:p>
        </p:txBody>
      </p:sp>
    </p:spTree>
    <p:extLst>
      <p:ext uri="{BB962C8B-B14F-4D97-AF65-F5344CB8AC3E}">
        <p14:creationId xmlns:p14="http://schemas.microsoft.com/office/powerpoint/2010/main" val="13323929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C6E05-60BA-CC78-3300-0C82EDE448B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EE2C4D0-94D3-1C4D-8A35-2B9BDD5E0C73}"/>
              </a:ext>
            </a:extLst>
          </p:cNvPr>
          <p:cNvSpPr>
            <a:spLocks noGrp="1"/>
          </p:cNvSpPr>
          <p:nvPr>
            <p:ph type="dt" sz="half" idx="10"/>
          </p:nvPr>
        </p:nvSpPr>
        <p:spPr/>
        <p:txBody>
          <a:bodyPr/>
          <a:lstStyle/>
          <a:p>
            <a:fld id="{054E98DA-D4BE-7248-A04D-81FF24A93C62}" type="datetimeFigureOut">
              <a:rPr lang="en-US" smtClean="0"/>
              <a:t>4/9/2026</a:t>
            </a:fld>
            <a:endParaRPr lang="en-US"/>
          </a:p>
        </p:txBody>
      </p:sp>
      <p:sp>
        <p:nvSpPr>
          <p:cNvPr id="4" name="Footer Placeholder 3">
            <a:extLst>
              <a:ext uri="{FF2B5EF4-FFF2-40B4-BE49-F238E27FC236}">
                <a16:creationId xmlns:a16="http://schemas.microsoft.com/office/drawing/2014/main" id="{CF029E8C-3587-33B1-A164-DBB37ADAE5E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2C2B80E-9F15-0A76-36BB-CBA43B0BCB89}"/>
              </a:ext>
            </a:extLst>
          </p:cNvPr>
          <p:cNvSpPr>
            <a:spLocks noGrp="1"/>
          </p:cNvSpPr>
          <p:nvPr>
            <p:ph type="sldNum" sz="quarter" idx="12"/>
          </p:nvPr>
        </p:nvSpPr>
        <p:spPr/>
        <p:txBody>
          <a:bodyPr/>
          <a:lstStyle/>
          <a:p>
            <a:fld id="{E989A12E-0181-044F-A966-06AB2A4B60DB}" type="slidenum">
              <a:rPr lang="en-US" smtClean="0"/>
              <a:t>‹#›</a:t>
            </a:fld>
            <a:endParaRPr lang="en-US"/>
          </a:p>
        </p:txBody>
      </p:sp>
    </p:spTree>
    <p:extLst>
      <p:ext uri="{BB962C8B-B14F-4D97-AF65-F5344CB8AC3E}">
        <p14:creationId xmlns:p14="http://schemas.microsoft.com/office/powerpoint/2010/main" val="4066323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64A4A32-40D1-20CF-0FC4-5596AC036C6C}"/>
              </a:ext>
            </a:extLst>
          </p:cNvPr>
          <p:cNvSpPr>
            <a:spLocks noGrp="1"/>
          </p:cNvSpPr>
          <p:nvPr>
            <p:ph type="dt" sz="half" idx="10"/>
          </p:nvPr>
        </p:nvSpPr>
        <p:spPr/>
        <p:txBody>
          <a:bodyPr/>
          <a:lstStyle/>
          <a:p>
            <a:fld id="{054E98DA-D4BE-7248-A04D-81FF24A93C62}" type="datetimeFigureOut">
              <a:rPr lang="en-US" smtClean="0"/>
              <a:t>4/9/2026</a:t>
            </a:fld>
            <a:endParaRPr lang="en-US"/>
          </a:p>
        </p:txBody>
      </p:sp>
      <p:sp>
        <p:nvSpPr>
          <p:cNvPr id="3" name="Footer Placeholder 2">
            <a:extLst>
              <a:ext uri="{FF2B5EF4-FFF2-40B4-BE49-F238E27FC236}">
                <a16:creationId xmlns:a16="http://schemas.microsoft.com/office/drawing/2014/main" id="{ACE128BA-93D3-572A-75D2-A813334CE6C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13200B4-2020-A638-1FAA-62F3540AFE3D}"/>
              </a:ext>
            </a:extLst>
          </p:cNvPr>
          <p:cNvSpPr>
            <a:spLocks noGrp="1"/>
          </p:cNvSpPr>
          <p:nvPr>
            <p:ph type="sldNum" sz="quarter" idx="12"/>
          </p:nvPr>
        </p:nvSpPr>
        <p:spPr/>
        <p:txBody>
          <a:bodyPr/>
          <a:lstStyle/>
          <a:p>
            <a:fld id="{E989A12E-0181-044F-A966-06AB2A4B60DB}" type="slidenum">
              <a:rPr lang="en-US" smtClean="0"/>
              <a:t>‹#›</a:t>
            </a:fld>
            <a:endParaRPr lang="en-US"/>
          </a:p>
        </p:txBody>
      </p:sp>
    </p:spTree>
    <p:extLst>
      <p:ext uri="{BB962C8B-B14F-4D97-AF65-F5344CB8AC3E}">
        <p14:creationId xmlns:p14="http://schemas.microsoft.com/office/powerpoint/2010/main" val="13629620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4EE29A-7D98-A382-C85F-2FBB5F16A08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05C1716-2625-D684-D532-9E531FD446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59DA2DC-CED3-10D2-227B-FA6C6E70F0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A9E2290-DA18-C433-D543-5BDA506D4608}"/>
              </a:ext>
            </a:extLst>
          </p:cNvPr>
          <p:cNvSpPr>
            <a:spLocks noGrp="1"/>
          </p:cNvSpPr>
          <p:nvPr>
            <p:ph type="dt" sz="half" idx="10"/>
          </p:nvPr>
        </p:nvSpPr>
        <p:spPr/>
        <p:txBody>
          <a:bodyPr/>
          <a:lstStyle/>
          <a:p>
            <a:fld id="{054E98DA-D4BE-7248-A04D-81FF24A93C62}" type="datetimeFigureOut">
              <a:rPr lang="en-US" smtClean="0"/>
              <a:t>4/9/2026</a:t>
            </a:fld>
            <a:endParaRPr lang="en-US"/>
          </a:p>
        </p:txBody>
      </p:sp>
      <p:sp>
        <p:nvSpPr>
          <p:cNvPr id="6" name="Footer Placeholder 5">
            <a:extLst>
              <a:ext uri="{FF2B5EF4-FFF2-40B4-BE49-F238E27FC236}">
                <a16:creationId xmlns:a16="http://schemas.microsoft.com/office/drawing/2014/main" id="{E2353898-1A3F-C8BB-0B65-58B65E3CFC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B24EA47-73F6-2394-9243-64B4FD55574F}"/>
              </a:ext>
            </a:extLst>
          </p:cNvPr>
          <p:cNvSpPr>
            <a:spLocks noGrp="1"/>
          </p:cNvSpPr>
          <p:nvPr>
            <p:ph type="sldNum" sz="quarter" idx="12"/>
          </p:nvPr>
        </p:nvSpPr>
        <p:spPr/>
        <p:txBody>
          <a:bodyPr/>
          <a:lstStyle/>
          <a:p>
            <a:fld id="{E989A12E-0181-044F-A966-06AB2A4B60DB}" type="slidenum">
              <a:rPr lang="en-US" smtClean="0"/>
              <a:t>‹#›</a:t>
            </a:fld>
            <a:endParaRPr lang="en-US"/>
          </a:p>
        </p:txBody>
      </p:sp>
    </p:spTree>
    <p:extLst>
      <p:ext uri="{BB962C8B-B14F-4D97-AF65-F5344CB8AC3E}">
        <p14:creationId xmlns:p14="http://schemas.microsoft.com/office/powerpoint/2010/main" val="22787525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FED38-0D41-4D47-812B-B1DFAADB07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338F93B-CD84-30ED-D101-E0BF511E1AC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CBDE22F-F909-B569-6578-F88F61DF7D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B5BCEBA-5426-FCFA-9E9E-5F1A64348375}"/>
              </a:ext>
            </a:extLst>
          </p:cNvPr>
          <p:cNvSpPr>
            <a:spLocks noGrp="1"/>
          </p:cNvSpPr>
          <p:nvPr>
            <p:ph type="dt" sz="half" idx="10"/>
          </p:nvPr>
        </p:nvSpPr>
        <p:spPr/>
        <p:txBody>
          <a:bodyPr/>
          <a:lstStyle/>
          <a:p>
            <a:fld id="{054E98DA-D4BE-7248-A04D-81FF24A93C62}" type="datetimeFigureOut">
              <a:rPr lang="en-US" smtClean="0"/>
              <a:t>4/9/2026</a:t>
            </a:fld>
            <a:endParaRPr lang="en-US"/>
          </a:p>
        </p:txBody>
      </p:sp>
      <p:sp>
        <p:nvSpPr>
          <p:cNvPr id="6" name="Footer Placeholder 5">
            <a:extLst>
              <a:ext uri="{FF2B5EF4-FFF2-40B4-BE49-F238E27FC236}">
                <a16:creationId xmlns:a16="http://schemas.microsoft.com/office/drawing/2014/main" id="{532B377D-4930-E119-31F9-07B8A00EE29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CE52312-6C46-1629-3673-CB1018BF4753}"/>
              </a:ext>
            </a:extLst>
          </p:cNvPr>
          <p:cNvSpPr>
            <a:spLocks noGrp="1"/>
          </p:cNvSpPr>
          <p:nvPr>
            <p:ph type="sldNum" sz="quarter" idx="12"/>
          </p:nvPr>
        </p:nvSpPr>
        <p:spPr/>
        <p:txBody>
          <a:bodyPr/>
          <a:lstStyle/>
          <a:p>
            <a:fld id="{E989A12E-0181-044F-A966-06AB2A4B60DB}" type="slidenum">
              <a:rPr lang="en-US" smtClean="0"/>
              <a:t>‹#›</a:t>
            </a:fld>
            <a:endParaRPr lang="en-US"/>
          </a:p>
        </p:txBody>
      </p:sp>
    </p:spTree>
    <p:extLst>
      <p:ext uri="{BB962C8B-B14F-4D97-AF65-F5344CB8AC3E}">
        <p14:creationId xmlns:p14="http://schemas.microsoft.com/office/powerpoint/2010/main" val="18919969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95078-5EF7-5955-E4B6-32E22E8ADB7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E7D6138-4864-364A-6B48-06E2532A87A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BBD432-EAF9-A7BF-542B-F965D27D0C76}"/>
              </a:ext>
            </a:extLst>
          </p:cNvPr>
          <p:cNvSpPr>
            <a:spLocks noGrp="1"/>
          </p:cNvSpPr>
          <p:nvPr>
            <p:ph type="dt" sz="half" idx="10"/>
          </p:nvPr>
        </p:nvSpPr>
        <p:spPr/>
        <p:txBody>
          <a:bodyPr/>
          <a:lstStyle/>
          <a:p>
            <a:fld id="{054E98DA-D4BE-7248-A04D-81FF24A93C62}" type="datetimeFigureOut">
              <a:rPr lang="en-US" smtClean="0"/>
              <a:t>4/9/2026</a:t>
            </a:fld>
            <a:endParaRPr lang="en-US"/>
          </a:p>
        </p:txBody>
      </p:sp>
      <p:sp>
        <p:nvSpPr>
          <p:cNvPr id="5" name="Footer Placeholder 4">
            <a:extLst>
              <a:ext uri="{FF2B5EF4-FFF2-40B4-BE49-F238E27FC236}">
                <a16:creationId xmlns:a16="http://schemas.microsoft.com/office/drawing/2014/main" id="{3E49972E-AC96-ED00-3B00-23FE312664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3D3489-6D0E-19ED-8798-E115E300C410}"/>
              </a:ext>
            </a:extLst>
          </p:cNvPr>
          <p:cNvSpPr>
            <a:spLocks noGrp="1"/>
          </p:cNvSpPr>
          <p:nvPr>
            <p:ph type="sldNum" sz="quarter" idx="12"/>
          </p:nvPr>
        </p:nvSpPr>
        <p:spPr/>
        <p:txBody>
          <a:bodyPr/>
          <a:lstStyle/>
          <a:p>
            <a:fld id="{E989A12E-0181-044F-A966-06AB2A4B60DB}" type="slidenum">
              <a:rPr lang="en-US" smtClean="0"/>
              <a:t>‹#›</a:t>
            </a:fld>
            <a:endParaRPr lang="en-US"/>
          </a:p>
        </p:txBody>
      </p:sp>
    </p:spTree>
    <p:extLst>
      <p:ext uri="{BB962C8B-B14F-4D97-AF65-F5344CB8AC3E}">
        <p14:creationId xmlns:p14="http://schemas.microsoft.com/office/powerpoint/2010/main" val="17913157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8D7DE7C-5C1B-FFF6-CFAB-B5B8726F9C8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2469680-D860-99BA-F3D7-FDD9D59DBE2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0C344B5-20B5-57B2-3AA5-99A1FEFE4198}"/>
              </a:ext>
            </a:extLst>
          </p:cNvPr>
          <p:cNvSpPr>
            <a:spLocks noGrp="1"/>
          </p:cNvSpPr>
          <p:nvPr>
            <p:ph type="dt" sz="half" idx="10"/>
          </p:nvPr>
        </p:nvSpPr>
        <p:spPr/>
        <p:txBody>
          <a:bodyPr/>
          <a:lstStyle/>
          <a:p>
            <a:fld id="{054E98DA-D4BE-7248-A04D-81FF24A93C62}" type="datetimeFigureOut">
              <a:rPr lang="en-US" smtClean="0"/>
              <a:t>4/9/2026</a:t>
            </a:fld>
            <a:endParaRPr lang="en-US"/>
          </a:p>
        </p:txBody>
      </p:sp>
      <p:sp>
        <p:nvSpPr>
          <p:cNvPr id="5" name="Footer Placeholder 4">
            <a:extLst>
              <a:ext uri="{FF2B5EF4-FFF2-40B4-BE49-F238E27FC236}">
                <a16:creationId xmlns:a16="http://schemas.microsoft.com/office/drawing/2014/main" id="{C3ECD918-A37C-D2AF-505D-A689E20477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65880A-FB24-CB81-1C3A-F9CF3B7C33B7}"/>
              </a:ext>
            </a:extLst>
          </p:cNvPr>
          <p:cNvSpPr>
            <a:spLocks noGrp="1"/>
          </p:cNvSpPr>
          <p:nvPr>
            <p:ph type="sldNum" sz="quarter" idx="12"/>
          </p:nvPr>
        </p:nvSpPr>
        <p:spPr/>
        <p:txBody>
          <a:bodyPr/>
          <a:lstStyle/>
          <a:p>
            <a:fld id="{E989A12E-0181-044F-A966-06AB2A4B60DB}" type="slidenum">
              <a:rPr lang="en-US" smtClean="0"/>
              <a:t>‹#›</a:t>
            </a:fld>
            <a:endParaRPr lang="en-US"/>
          </a:p>
        </p:txBody>
      </p:sp>
    </p:spTree>
    <p:extLst>
      <p:ext uri="{BB962C8B-B14F-4D97-AF65-F5344CB8AC3E}">
        <p14:creationId xmlns:p14="http://schemas.microsoft.com/office/powerpoint/2010/main" val="1318326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27EFD88-DB46-8DDE-56BF-8B3667C8241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B0FC346-EC17-BAC9-377B-77F94AD33A7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F001F42-2FA9-C500-AF24-0395227A9BD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54E98DA-D4BE-7248-A04D-81FF24A93C62}" type="datetimeFigureOut">
              <a:rPr lang="en-US" smtClean="0"/>
              <a:t>4/9/2026</a:t>
            </a:fld>
            <a:endParaRPr lang="en-US"/>
          </a:p>
        </p:txBody>
      </p:sp>
      <p:sp>
        <p:nvSpPr>
          <p:cNvPr id="5" name="Footer Placeholder 4">
            <a:extLst>
              <a:ext uri="{FF2B5EF4-FFF2-40B4-BE49-F238E27FC236}">
                <a16:creationId xmlns:a16="http://schemas.microsoft.com/office/drawing/2014/main" id="{DBDEC032-BD5B-0D0A-6AF0-9C747C664A0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A170BB6-4507-921D-6F18-1A0BD918F3E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989A12E-0181-044F-A966-06AB2A4B60DB}" type="slidenum">
              <a:rPr lang="en-US" smtClean="0"/>
              <a:t>‹#›</a:t>
            </a:fld>
            <a:endParaRPr lang="en-US"/>
          </a:p>
        </p:txBody>
      </p:sp>
    </p:spTree>
    <p:extLst>
      <p:ext uri="{BB962C8B-B14F-4D97-AF65-F5344CB8AC3E}">
        <p14:creationId xmlns:p14="http://schemas.microsoft.com/office/powerpoint/2010/main" val="20295056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6DE4348-C249-A07C-8F6E-61CBC111F3A7}"/>
              </a:ext>
            </a:extLst>
          </p:cNvPr>
          <p:cNvPicPr>
            <a:picLocks noChangeAspect="1"/>
          </p:cNvPicPr>
          <p:nvPr/>
        </p:nvPicPr>
        <p:blipFill>
          <a:blip r:embed="rId2">
            <a:extLst>
              <a:ext uri="{BEBA8EAE-BF5A-486C-A8C5-ECC9F3942E4B}">
                <a14:imgProps xmlns:a14="http://schemas.microsoft.com/office/drawing/2010/main">
                  <a14:imgLayer r:embed="rId3">
                    <a14:imgEffect>
                      <a14:saturation sat="200000"/>
                    </a14:imgEffect>
                  </a14:imgLayer>
                </a14:imgProps>
              </a:ext>
              <a:ext uri="{28A0092B-C50C-407E-A947-70E740481C1C}">
                <a14:useLocalDpi xmlns:a14="http://schemas.microsoft.com/office/drawing/2010/main" val="0"/>
              </a:ext>
            </a:extLst>
          </a:blip>
          <a:stretch>
            <a:fillRect/>
          </a:stretch>
        </p:blipFill>
        <p:spPr>
          <a:xfrm>
            <a:off x="1297042" y="467984"/>
            <a:ext cx="9252857" cy="1859426"/>
          </a:xfrm>
          <a:prstGeom prst="rect">
            <a:avLst/>
          </a:prstGeom>
          <a:effectLst>
            <a:outerShdw blurRad="50800" dist="50800" dir="5400000" algn="ctr" rotWithShape="0">
              <a:srgbClr val="000000"/>
            </a:outerShdw>
          </a:effectLst>
        </p:spPr>
      </p:pic>
      <p:sp>
        <p:nvSpPr>
          <p:cNvPr id="5" name="TextBox 4">
            <a:extLst>
              <a:ext uri="{FF2B5EF4-FFF2-40B4-BE49-F238E27FC236}">
                <a16:creationId xmlns:a16="http://schemas.microsoft.com/office/drawing/2014/main" id="{078071ED-6996-E59C-926B-DDD03D4198DF}"/>
              </a:ext>
            </a:extLst>
          </p:cNvPr>
          <p:cNvSpPr txBox="1"/>
          <p:nvPr/>
        </p:nvSpPr>
        <p:spPr>
          <a:xfrm rot="10800000" flipV="1">
            <a:off x="3854481" y="2327410"/>
            <a:ext cx="4137977" cy="369332"/>
          </a:xfrm>
          <a:prstGeom prst="rect">
            <a:avLst/>
          </a:prstGeom>
          <a:noFill/>
        </p:spPr>
        <p:txBody>
          <a:bodyPr wrap="square" rtlCol="0">
            <a:spAutoFit/>
          </a:bodyPr>
          <a:lstStyle/>
          <a:p>
            <a:pPr algn="l"/>
            <a:r>
              <a:rPr lang="en-US" sz="1600" b="1" dirty="0">
                <a:latin typeface="Times New Roman" panose="02020603050405020304" pitchFamily="18" charset="0"/>
                <a:ea typeface="ADLaM Display" panose="02010000000000000000" pitchFamily="2" charset="0"/>
                <a:cs typeface="Times New Roman" panose="02020603050405020304" pitchFamily="18" charset="0"/>
              </a:rPr>
              <a:t>DEPARTMENT OF CIVIL ENGINEERING</a:t>
            </a:r>
            <a:r>
              <a:rPr lang="en-US" dirty="0">
                <a:latin typeface="Times New Roman" panose="02020603050405020304" pitchFamily="18" charset="0"/>
                <a:ea typeface="ADLaM Display" panose="02010000000000000000" pitchFamily="2" charset="0"/>
                <a:cs typeface="Times New Roman" panose="02020603050405020304" pitchFamily="18" charset="0"/>
              </a:rPr>
              <a:t> </a:t>
            </a:r>
          </a:p>
        </p:txBody>
      </p:sp>
      <p:sp>
        <p:nvSpPr>
          <p:cNvPr id="6" name="TextBox 5">
            <a:extLst>
              <a:ext uri="{FF2B5EF4-FFF2-40B4-BE49-F238E27FC236}">
                <a16:creationId xmlns:a16="http://schemas.microsoft.com/office/drawing/2014/main" id="{C7322BDD-694E-C502-53D4-4E0F92FFA644}"/>
              </a:ext>
            </a:extLst>
          </p:cNvPr>
          <p:cNvSpPr txBox="1"/>
          <p:nvPr/>
        </p:nvSpPr>
        <p:spPr>
          <a:xfrm>
            <a:off x="1777980" y="2760278"/>
            <a:ext cx="8636040" cy="861774"/>
          </a:xfrm>
          <a:prstGeom prst="rect">
            <a:avLst/>
          </a:prstGeom>
          <a:noFill/>
        </p:spPr>
        <p:txBody>
          <a:bodyPr wrap="square" rtlCol="0">
            <a:spAutoFit/>
          </a:bodyPr>
          <a:lstStyle/>
          <a:p>
            <a:pPr algn="ctr"/>
            <a:r>
              <a:rPr lang="en-US" sz="2500" b="1" dirty="0">
                <a:latin typeface="Times New Roman" panose="02020603050405020304" pitchFamily="18" charset="0"/>
                <a:cs typeface="Times New Roman" panose="02020603050405020304" pitchFamily="18" charset="0"/>
              </a:rPr>
              <a:t>PLANNING, ANALYSIS AND DESIGN OF INDIRAMMA ILLU BY MANUAL PROCESS</a:t>
            </a:r>
          </a:p>
        </p:txBody>
      </p:sp>
      <p:sp>
        <p:nvSpPr>
          <p:cNvPr id="7" name="TextBox 6">
            <a:extLst>
              <a:ext uri="{FF2B5EF4-FFF2-40B4-BE49-F238E27FC236}">
                <a16:creationId xmlns:a16="http://schemas.microsoft.com/office/drawing/2014/main" id="{7D0389CD-E525-430C-5B17-660A1BD8FED9}"/>
              </a:ext>
            </a:extLst>
          </p:cNvPr>
          <p:cNvSpPr txBox="1"/>
          <p:nvPr/>
        </p:nvSpPr>
        <p:spPr>
          <a:xfrm>
            <a:off x="4147533" y="4082704"/>
            <a:ext cx="3551872" cy="1846659"/>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Submitted By</a:t>
            </a:r>
          </a:p>
          <a:p>
            <a:pPr algn="ctr"/>
            <a:endParaRPr lang="en-US" sz="1000" b="1" dirty="0">
              <a:latin typeface="Times New Roman" panose="02020603050405020304" pitchFamily="18" charset="0"/>
              <a:cs typeface="Times New Roman" panose="02020603050405020304" pitchFamily="18" charset="0"/>
            </a:endParaRPr>
          </a:p>
          <a:p>
            <a:pPr algn="ctr"/>
            <a:r>
              <a:rPr lang="en-US" sz="2000" dirty="0">
                <a:latin typeface="Times New Roman" panose="02020603050405020304" pitchFamily="18" charset="0"/>
                <a:cs typeface="Times New Roman" panose="02020603050405020304" pitchFamily="18" charset="0"/>
              </a:rPr>
              <a:t>SA RAHMAN       24365A0125</a:t>
            </a:r>
          </a:p>
          <a:p>
            <a:pPr algn="ctr"/>
            <a:r>
              <a:rPr lang="en-US" sz="2000" dirty="0">
                <a:latin typeface="Times New Roman" panose="02020603050405020304" pitchFamily="18" charset="0"/>
                <a:cs typeface="Times New Roman" panose="02020603050405020304" pitchFamily="18" charset="0"/>
              </a:rPr>
              <a:t>ANJALI K             24365A0102</a:t>
            </a:r>
          </a:p>
          <a:p>
            <a:pPr algn="ctr"/>
            <a:r>
              <a:rPr lang="en-US" sz="2000" dirty="0">
                <a:latin typeface="Times New Roman" panose="02020603050405020304" pitchFamily="18" charset="0"/>
                <a:cs typeface="Times New Roman" panose="02020603050405020304" pitchFamily="18" charset="0"/>
              </a:rPr>
              <a:t>SIDDARTHA V     24365A0121</a:t>
            </a:r>
          </a:p>
          <a:p>
            <a:pPr algn="ctr"/>
            <a:r>
              <a:rPr lang="en-US" sz="2000" dirty="0">
                <a:latin typeface="Times New Roman" panose="02020603050405020304" pitchFamily="18" charset="0"/>
                <a:cs typeface="Times New Roman" panose="02020603050405020304" pitchFamily="18" charset="0"/>
              </a:rPr>
              <a:t>AMERSALEEM    23361A0102</a:t>
            </a:r>
          </a:p>
        </p:txBody>
      </p:sp>
      <p:pic>
        <p:nvPicPr>
          <p:cNvPr id="2" name="Picture 1">
            <a:extLst>
              <a:ext uri="{FF2B5EF4-FFF2-40B4-BE49-F238E27FC236}">
                <a16:creationId xmlns:a16="http://schemas.microsoft.com/office/drawing/2014/main" id="{B711ADAC-D0CB-BB89-2DAF-88DC2B2CBD8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73341" y="6390016"/>
            <a:ext cx="7048500" cy="467984"/>
          </a:xfrm>
          <a:prstGeom prst="rect">
            <a:avLst/>
          </a:prstGeom>
        </p:spPr>
      </p:pic>
      <p:sp>
        <p:nvSpPr>
          <p:cNvPr id="3" name="TextBox 2">
            <a:extLst>
              <a:ext uri="{FF2B5EF4-FFF2-40B4-BE49-F238E27FC236}">
                <a16:creationId xmlns:a16="http://schemas.microsoft.com/office/drawing/2014/main" id="{702BCB84-61D4-D074-0E7A-6068708A8303}"/>
              </a:ext>
            </a:extLst>
          </p:cNvPr>
          <p:cNvSpPr txBox="1"/>
          <p:nvPr/>
        </p:nvSpPr>
        <p:spPr>
          <a:xfrm>
            <a:off x="7722437" y="3838755"/>
            <a:ext cx="3398808" cy="646331"/>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Under the Guidance of</a:t>
            </a:r>
          </a:p>
          <a:p>
            <a:r>
              <a:rPr lang="en-IN" dirty="0">
                <a:latin typeface="Times New Roman" panose="02020603050405020304" pitchFamily="18" charset="0"/>
                <a:cs typeface="Times New Roman" panose="02020603050405020304" pitchFamily="18" charset="0"/>
              </a:rPr>
              <a:t>SK. SHANAVAZ AHMED (HOD)</a:t>
            </a:r>
          </a:p>
        </p:txBody>
      </p:sp>
    </p:spTree>
    <p:extLst>
      <p:ext uri="{BB962C8B-B14F-4D97-AF65-F5344CB8AC3E}">
        <p14:creationId xmlns:p14="http://schemas.microsoft.com/office/powerpoint/2010/main" val="20424329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D6C6EFE-6AF7-5326-A845-CDAEA71936D1}"/>
              </a:ext>
            </a:extLst>
          </p:cNvPr>
          <p:cNvSpPr txBox="1"/>
          <p:nvPr/>
        </p:nvSpPr>
        <p:spPr>
          <a:xfrm>
            <a:off x="1869054" y="628990"/>
            <a:ext cx="8453887"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BACKGROUND &amp; PROJECT OBJECTIVE</a:t>
            </a:r>
            <a:endParaRPr lang="en-IN" sz="3000"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E309DF05-B9DD-38F6-4D70-5D32CCE0E148}"/>
              </a:ext>
            </a:extLst>
          </p:cNvPr>
          <p:cNvSpPr txBox="1"/>
          <p:nvPr/>
        </p:nvSpPr>
        <p:spPr>
          <a:xfrm>
            <a:off x="709878" y="1583187"/>
            <a:ext cx="10366437" cy="4154984"/>
          </a:xfrm>
          <a:prstGeom prst="rect">
            <a:avLst/>
          </a:prstGeom>
          <a:noFill/>
        </p:spPr>
        <p:txBody>
          <a:bodyPr wrap="square">
            <a:spAutoFit/>
          </a:bodyPr>
          <a:lstStyle/>
          <a:p>
            <a:pPr lvl="1" algn="just"/>
            <a:r>
              <a:rPr lang="en-US" b="1" dirty="0">
                <a:latin typeface="Times New Roman" panose="02020603050405020304" pitchFamily="18" charset="0"/>
                <a:cs typeface="Times New Roman" panose="02020603050405020304" pitchFamily="18" charset="0"/>
              </a:rPr>
              <a:t>The Indiramma </a:t>
            </a:r>
            <a:r>
              <a:rPr lang="en-US" b="1" dirty="0" err="1">
                <a:latin typeface="Times New Roman" panose="02020603050405020304" pitchFamily="18" charset="0"/>
                <a:cs typeface="Times New Roman" panose="02020603050405020304" pitchFamily="18" charset="0"/>
              </a:rPr>
              <a:t>Illu</a:t>
            </a:r>
            <a:r>
              <a:rPr lang="en-US" b="1" dirty="0">
                <a:latin typeface="Times New Roman" panose="02020603050405020304" pitchFamily="18" charset="0"/>
                <a:cs typeface="Times New Roman" panose="02020603050405020304" pitchFamily="18" charset="0"/>
              </a:rPr>
              <a:t> Scheme:</a:t>
            </a:r>
            <a:r>
              <a:rPr lang="en-US" dirty="0">
                <a:latin typeface="Times New Roman" panose="02020603050405020304" pitchFamily="18" charset="0"/>
                <a:cs typeface="Times New Roman" panose="02020603050405020304" pitchFamily="18" charset="0"/>
              </a:rPr>
              <a:t> Launched by the Government of Telangana on March 11, 2024, to address the housing deficit for Economically Weaker Sections (EWS) and Below Poverty Line (BPL) families.</a:t>
            </a:r>
          </a:p>
          <a:p>
            <a:pPr lvl="1" algn="just"/>
            <a:endParaRPr lang="en-US" sz="500" b="1" dirty="0">
              <a:latin typeface="Times New Roman" panose="02020603050405020304" pitchFamily="18" charset="0"/>
              <a:cs typeface="Times New Roman" panose="02020603050405020304" pitchFamily="18" charset="0"/>
            </a:endParaRPr>
          </a:p>
          <a:p>
            <a:pPr lvl="1" algn="just"/>
            <a:r>
              <a:rPr lang="en-US" b="1" dirty="0">
                <a:latin typeface="Times New Roman" panose="02020603050405020304" pitchFamily="18" charset="0"/>
                <a:cs typeface="Times New Roman" panose="02020603050405020304" pitchFamily="18" charset="0"/>
              </a:rPr>
              <a:t>Financial Model:</a:t>
            </a:r>
            <a:r>
              <a:rPr lang="en-US" dirty="0">
                <a:latin typeface="Times New Roman" panose="02020603050405020304" pitchFamily="18" charset="0"/>
                <a:cs typeface="Times New Roman" panose="02020603050405020304" pitchFamily="18" charset="0"/>
              </a:rPr>
              <a:t> The scheme provides direct financial assistance of ₹5 lakh to families who own a plot but lack construction funds.</a:t>
            </a:r>
          </a:p>
          <a:p>
            <a:pPr lvl="1" algn="just"/>
            <a:endParaRPr lang="en-US" sz="500" b="1" dirty="0">
              <a:latin typeface="Times New Roman" panose="02020603050405020304" pitchFamily="18" charset="0"/>
              <a:cs typeface="Times New Roman" panose="02020603050405020304" pitchFamily="18" charset="0"/>
            </a:endParaRPr>
          </a:p>
          <a:p>
            <a:pPr lvl="1" algn="just"/>
            <a:r>
              <a:rPr lang="en-US" b="1" dirty="0">
                <a:latin typeface="Times New Roman" panose="02020603050405020304" pitchFamily="18" charset="0"/>
                <a:cs typeface="Times New Roman" panose="02020603050405020304" pitchFamily="18" charset="0"/>
              </a:rPr>
              <a:t>Primary Objective:</a:t>
            </a:r>
            <a:r>
              <a:rPr lang="en-US" dirty="0">
                <a:latin typeface="Times New Roman" panose="02020603050405020304" pitchFamily="18" charset="0"/>
                <a:cs typeface="Times New Roman" panose="02020603050405020304" pitchFamily="18" charset="0"/>
              </a:rPr>
              <a:t> The planning, Structural analysis, and designing of an Indiramma </a:t>
            </a:r>
            <a:r>
              <a:rPr lang="en-US" dirty="0" err="1">
                <a:latin typeface="Times New Roman" panose="02020603050405020304" pitchFamily="18" charset="0"/>
                <a:cs typeface="Times New Roman" panose="02020603050405020304" pitchFamily="18" charset="0"/>
              </a:rPr>
              <a:t>Illu</a:t>
            </a:r>
            <a:r>
              <a:rPr lang="en-US" dirty="0">
                <a:latin typeface="Times New Roman" panose="02020603050405020304" pitchFamily="18" charset="0"/>
                <a:cs typeface="Times New Roman" panose="02020603050405020304" pitchFamily="18" charset="0"/>
              </a:rPr>
              <a:t> strictly through a manual process.</a:t>
            </a:r>
          </a:p>
          <a:p>
            <a:pPr lvl="1" algn="just"/>
            <a:endParaRPr lang="en-US" sz="500" b="1" dirty="0">
              <a:latin typeface="Times New Roman" panose="02020603050405020304" pitchFamily="18" charset="0"/>
              <a:cs typeface="Times New Roman" panose="02020603050405020304" pitchFamily="18" charset="0"/>
            </a:endParaRPr>
          </a:p>
          <a:p>
            <a:pPr lvl="1" algn="just"/>
            <a:r>
              <a:rPr lang="en-US" b="1" dirty="0">
                <a:latin typeface="Times New Roman" panose="02020603050405020304" pitchFamily="18" charset="0"/>
                <a:cs typeface="Times New Roman" panose="02020603050405020304" pitchFamily="18" charset="0"/>
              </a:rPr>
              <a:t>Design Goal:</a:t>
            </a:r>
            <a:r>
              <a:rPr lang="en-US" dirty="0">
                <a:latin typeface="Times New Roman" panose="02020603050405020304" pitchFamily="18" charset="0"/>
                <a:cs typeface="Times New Roman" panose="02020603050405020304" pitchFamily="18" charset="0"/>
              </a:rPr>
              <a:t> To engineer a highly efficient, single-story (G+0) residential building that maximizes space while strictly adhering to the scheme's economic constraints.</a:t>
            </a:r>
          </a:p>
          <a:p>
            <a:pPr lvl="1" algn="just"/>
            <a:endParaRPr lang="en-US" sz="500" b="1" dirty="0">
              <a:latin typeface="Times New Roman" panose="02020603050405020304" pitchFamily="18" charset="0"/>
              <a:cs typeface="Times New Roman" panose="02020603050405020304" pitchFamily="18" charset="0"/>
            </a:endParaRPr>
          </a:p>
          <a:p>
            <a:pPr lvl="1" algn="just"/>
            <a:r>
              <a:rPr lang="en-US" b="1" dirty="0">
                <a:latin typeface="Times New Roman" panose="02020603050405020304" pitchFamily="18" charset="0"/>
                <a:cs typeface="Times New Roman" panose="02020603050405020304" pitchFamily="18" charset="0"/>
              </a:rPr>
              <a:t>The Methodology:</a:t>
            </a:r>
            <a:r>
              <a:rPr lang="en-US" dirty="0">
                <a:latin typeface="Times New Roman" panose="02020603050405020304" pitchFamily="18" charset="0"/>
                <a:cs typeface="Times New Roman" panose="02020603050405020304" pitchFamily="18" charset="0"/>
              </a:rPr>
              <a:t> The entire structural design is executed completely manually.</a:t>
            </a:r>
          </a:p>
          <a:p>
            <a:pPr lvl="1" algn="just"/>
            <a:endParaRPr lang="en-US" sz="500" b="1" dirty="0">
              <a:latin typeface="Times New Roman" panose="02020603050405020304" pitchFamily="18" charset="0"/>
              <a:cs typeface="Times New Roman" panose="02020603050405020304" pitchFamily="18" charset="0"/>
            </a:endParaRPr>
          </a:p>
          <a:p>
            <a:pPr lvl="1" algn="just"/>
            <a:r>
              <a:rPr lang="en-US" b="1" dirty="0">
                <a:latin typeface="Times New Roman" panose="02020603050405020304" pitchFamily="18" charset="0"/>
                <a:cs typeface="Times New Roman" panose="02020603050405020304" pitchFamily="18" charset="0"/>
              </a:rPr>
              <a:t>Execution:</a:t>
            </a:r>
            <a:r>
              <a:rPr lang="en-US" dirty="0">
                <a:latin typeface="Times New Roman" panose="02020603050405020304" pitchFamily="18" charset="0"/>
                <a:cs typeface="Times New Roman" panose="02020603050405020304" pitchFamily="18" charset="0"/>
              </a:rPr>
              <a:t> Every phase, from architectural planning and load calculations to structural analysis and RCC design, is calculated strictly by hand instead of relying on automated structural software.</a:t>
            </a:r>
          </a:p>
          <a:p>
            <a:pPr lvl="1" algn="just"/>
            <a:endParaRPr lang="en-US" sz="500" b="1" dirty="0">
              <a:latin typeface="Times New Roman" panose="02020603050405020304" pitchFamily="18" charset="0"/>
              <a:cs typeface="Times New Roman" panose="02020603050405020304" pitchFamily="18" charset="0"/>
            </a:endParaRPr>
          </a:p>
          <a:p>
            <a:pPr lvl="1" algn="just"/>
            <a:r>
              <a:rPr lang="en-US" b="1" dirty="0">
                <a:latin typeface="Times New Roman" panose="02020603050405020304" pitchFamily="18" charset="0"/>
                <a:cs typeface="Times New Roman" panose="02020603050405020304" pitchFamily="18" charset="0"/>
              </a:rPr>
              <a:t>Cost Control:</a:t>
            </a:r>
            <a:r>
              <a:rPr lang="en-US" dirty="0">
                <a:latin typeface="Times New Roman" panose="02020603050405020304" pitchFamily="18" charset="0"/>
                <a:cs typeface="Times New Roman" panose="02020603050405020304" pitchFamily="18" charset="0"/>
              </a:rPr>
              <a:t> This rigorous manual approach actively avoids the unnecessary, cost-inflating designs that often result from an over-reliance on complex analytical software.</a:t>
            </a:r>
          </a:p>
        </p:txBody>
      </p:sp>
    </p:spTree>
    <p:extLst>
      <p:ext uri="{BB962C8B-B14F-4D97-AF65-F5344CB8AC3E}">
        <p14:creationId xmlns:p14="http://schemas.microsoft.com/office/powerpoint/2010/main" val="13051151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99D302-6FF9-A2F5-7463-9194BB2BD46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9F09F36-E926-0DE4-7D5B-BBAA29904120}"/>
              </a:ext>
            </a:extLst>
          </p:cNvPr>
          <p:cNvSpPr txBox="1"/>
          <p:nvPr/>
        </p:nvSpPr>
        <p:spPr>
          <a:xfrm>
            <a:off x="3427382" y="808681"/>
            <a:ext cx="5337236" cy="584775"/>
          </a:xfrm>
          <a:prstGeom prst="rect">
            <a:avLst/>
          </a:prstGeom>
          <a:noFill/>
        </p:spPr>
        <p:txBody>
          <a:bodyPr wrap="square" rtlCol="0">
            <a:spAutoFit/>
          </a:bodyPr>
          <a:lstStyle/>
          <a:p>
            <a:pPr algn="just"/>
            <a:r>
              <a:rPr lang="en-IN" sz="3200" b="1" dirty="0">
                <a:latin typeface="Times New Roman" panose="02020603050405020304" pitchFamily="18" charset="0"/>
                <a:cs typeface="Times New Roman" panose="02020603050405020304" pitchFamily="18" charset="0"/>
              </a:rPr>
              <a:t>REAL-WORLD SITE DATA</a:t>
            </a:r>
            <a:endParaRPr lang="en-IN" sz="30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E72BEDC-62E2-C33C-2F3F-52FF1F101DE0}"/>
              </a:ext>
            </a:extLst>
          </p:cNvPr>
          <p:cNvSpPr txBox="1"/>
          <p:nvPr/>
        </p:nvSpPr>
        <p:spPr>
          <a:xfrm>
            <a:off x="1464873" y="2259449"/>
            <a:ext cx="9262254" cy="2339102"/>
          </a:xfrm>
          <a:prstGeom prst="rect">
            <a:avLst/>
          </a:prstGeom>
          <a:noFill/>
        </p:spPr>
        <p:txBody>
          <a:bodyPr wrap="square" anchor="t">
            <a:spAutoFit/>
          </a:bodyPr>
          <a:lstStyle/>
          <a:p>
            <a:pPr algn="just"/>
            <a:r>
              <a:rPr lang="en-US" b="1" dirty="0">
                <a:latin typeface="Times New Roman" panose="02020603050405020304" pitchFamily="18" charset="0"/>
                <a:cs typeface="Times New Roman" panose="02020603050405020304" pitchFamily="18" charset="0"/>
              </a:rPr>
              <a:t>Practical Approach:</a:t>
            </a:r>
            <a:r>
              <a:rPr lang="en-US" dirty="0">
                <a:latin typeface="Times New Roman" panose="02020603050405020304" pitchFamily="18" charset="0"/>
                <a:cs typeface="Times New Roman" panose="02020603050405020304" pitchFamily="18" charset="0"/>
              </a:rPr>
              <a:t> Surveyed an actual shortlisted plot on the ground instead of assuming standard textbook dimensions.</a:t>
            </a:r>
          </a:p>
          <a:p>
            <a:pPr algn="just"/>
            <a:endParaRPr lang="en-US" sz="500"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Beneficiary:</a:t>
            </a:r>
            <a:r>
              <a:rPr lang="en-IN" dirty="0">
                <a:latin typeface="Times New Roman" panose="02020603050405020304" pitchFamily="18" charset="0"/>
                <a:cs typeface="Times New Roman" panose="02020603050405020304" pitchFamily="18" charset="0"/>
              </a:rPr>
              <a:t> Smt. B. </a:t>
            </a:r>
            <a:r>
              <a:rPr lang="en-IN" dirty="0" err="1">
                <a:latin typeface="Times New Roman" panose="02020603050405020304" pitchFamily="18" charset="0"/>
                <a:cs typeface="Times New Roman" panose="02020603050405020304" pitchFamily="18" charset="0"/>
              </a:rPr>
              <a:t>Kanakamma</a:t>
            </a:r>
            <a:r>
              <a:rPr lang="en-IN" dirty="0">
                <a:latin typeface="Times New Roman" panose="02020603050405020304" pitchFamily="18" charset="0"/>
                <a:cs typeface="Times New Roman" panose="02020603050405020304" pitchFamily="18" charset="0"/>
              </a:rPr>
              <a:t>.</a:t>
            </a:r>
          </a:p>
          <a:p>
            <a:pPr algn="just"/>
            <a:endParaRPr lang="en-IN" sz="500"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Location:</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Mannapur</a:t>
            </a:r>
            <a:r>
              <a:rPr lang="en-IN" dirty="0">
                <a:latin typeface="Times New Roman" panose="02020603050405020304" pitchFamily="18" charset="0"/>
                <a:cs typeface="Times New Roman" panose="02020603050405020304" pitchFamily="18" charset="0"/>
              </a:rPr>
              <a:t> Village, </a:t>
            </a:r>
            <a:r>
              <a:rPr lang="en-IN" dirty="0" err="1">
                <a:latin typeface="Times New Roman" panose="02020603050405020304" pitchFamily="18" charset="0"/>
                <a:cs typeface="Times New Roman" panose="02020603050405020304" pitchFamily="18" charset="0"/>
              </a:rPr>
              <a:t>Kothapalle</a:t>
            </a:r>
            <a:r>
              <a:rPr lang="en-IN" dirty="0">
                <a:latin typeface="Times New Roman" panose="02020603050405020304" pitchFamily="18" charset="0"/>
                <a:cs typeface="Times New Roman" panose="02020603050405020304" pitchFamily="18" charset="0"/>
              </a:rPr>
              <a:t> Mandal, </a:t>
            </a:r>
            <a:r>
              <a:rPr lang="en-IN" dirty="0" err="1">
                <a:latin typeface="Times New Roman" panose="02020603050405020304" pitchFamily="18" charset="0"/>
                <a:cs typeface="Times New Roman" panose="02020603050405020304" pitchFamily="18" charset="0"/>
              </a:rPr>
              <a:t>Narayanpet</a:t>
            </a:r>
            <a:r>
              <a:rPr lang="en-IN" dirty="0">
                <a:latin typeface="Times New Roman" panose="02020603050405020304" pitchFamily="18" charset="0"/>
                <a:cs typeface="Times New Roman" panose="02020603050405020304" pitchFamily="18" charset="0"/>
              </a:rPr>
              <a:t> District.</a:t>
            </a:r>
          </a:p>
          <a:p>
            <a:pPr algn="just"/>
            <a:endParaRPr lang="en-IN" sz="500"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Plinth Details:</a:t>
            </a:r>
            <a:r>
              <a:rPr lang="en-US" dirty="0">
                <a:latin typeface="Times New Roman" panose="02020603050405020304" pitchFamily="18" charset="0"/>
                <a:cs typeface="Times New Roman" panose="02020603050405020304" pitchFamily="18" charset="0"/>
              </a:rPr>
              <a:t> North-facing plinth measuring 8.05m x 6.81m.</a:t>
            </a:r>
          </a:p>
          <a:p>
            <a:pPr algn="just"/>
            <a:endParaRPr lang="en-US" sz="500"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Statutory Compliance:</a:t>
            </a:r>
            <a:r>
              <a:rPr lang="en-US" dirty="0">
                <a:latin typeface="Times New Roman" panose="02020603050405020304" pitchFamily="18" charset="0"/>
                <a:cs typeface="Times New Roman" panose="02020603050405020304" pitchFamily="18" charset="0"/>
              </a:rPr>
              <a:t> The final plinth area is 590 sq. ft. (54.82 m²), strictly within the government's 400 to 600 sq. ft. mandate to remain eligible for the scheme.</a:t>
            </a: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218947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F669B6-D612-E065-3979-6DB6701E2CD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66709E0-C667-9345-9B54-E8A16E766786}"/>
              </a:ext>
            </a:extLst>
          </p:cNvPr>
          <p:cNvSpPr txBox="1"/>
          <p:nvPr/>
        </p:nvSpPr>
        <p:spPr>
          <a:xfrm>
            <a:off x="2946594" y="955330"/>
            <a:ext cx="6298812"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PLANNING &amp; ARCHITECTURE</a:t>
            </a:r>
          </a:p>
        </p:txBody>
      </p:sp>
      <p:sp>
        <p:nvSpPr>
          <p:cNvPr id="6" name="TextBox 5">
            <a:extLst>
              <a:ext uri="{FF2B5EF4-FFF2-40B4-BE49-F238E27FC236}">
                <a16:creationId xmlns:a16="http://schemas.microsoft.com/office/drawing/2014/main" id="{DC103F8A-4E1D-6CB1-7B35-498272937DB4}"/>
              </a:ext>
            </a:extLst>
          </p:cNvPr>
          <p:cNvSpPr txBox="1"/>
          <p:nvPr/>
        </p:nvSpPr>
        <p:spPr>
          <a:xfrm>
            <a:off x="1945885" y="2328461"/>
            <a:ext cx="8300229" cy="3216265"/>
          </a:xfrm>
          <a:prstGeom prst="rect">
            <a:avLst/>
          </a:prstGeom>
          <a:noFill/>
        </p:spPr>
        <p:txBody>
          <a:bodyPr wrap="square" anchor="t">
            <a:spAutoFit/>
          </a:bodyPr>
          <a:lstStyle/>
          <a:p>
            <a:pPr algn="just"/>
            <a:r>
              <a:rPr lang="en-US" b="1" dirty="0">
                <a:latin typeface="Times New Roman" panose="02020603050405020304" pitchFamily="18" charset="0"/>
                <a:cs typeface="Times New Roman" panose="02020603050405020304" pitchFamily="18" charset="0"/>
              </a:rPr>
              <a:t>Statutory Compliance:</a:t>
            </a:r>
            <a:r>
              <a:rPr lang="en-US" dirty="0">
                <a:latin typeface="Times New Roman" panose="02020603050405020304" pitchFamily="18" charset="0"/>
                <a:cs typeface="Times New Roman" panose="02020603050405020304" pitchFamily="18" charset="0"/>
              </a:rPr>
              <a:t> The spatial planning adheres strictly to the "National Building Code (NBC) 2016" and the mandatory provisions of the Indiramma </a:t>
            </a:r>
            <a:r>
              <a:rPr lang="en-US" dirty="0" err="1">
                <a:latin typeface="Times New Roman" panose="02020603050405020304" pitchFamily="18" charset="0"/>
                <a:cs typeface="Times New Roman" panose="02020603050405020304" pitchFamily="18" charset="0"/>
              </a:rPr>
              <a:t>Illu</a:t>
            </a:r>
            <a:r>
              <a:rPr lang="en-US" dirty="0">
                <a:latin typeface="Times New Roman" panose="02020603050405020304" pitchFamily="18" charset="0"/>
                <a:cs typeface="Times New Roman" panose="02020603050405020304" pitchFamily="18" charset="0"/>
              </a:rPr>
              <a:t> Scheme.</a:t>
            </a:r>
          </a:p>
          <a:p>
            <a:pPr algn="just"/>
            <a:endParaRPr lang="en-US" sz="1000" dirty="0">
              <a:latin typeface="Times New Roman" panose="02020603050405020304" pitchFamily="18" charset="0"/>
              <a:cs typeface="Times New Roman" panose="02020603050405020304" pitchFamily="18" charset="0"/>
            </a:endParaRPr>
          </a:p>
          <a:p>
            <a:pPr algn="just"/>
            <a:r>
              <a:rPr lang="en-US" sz="1600" b="1" dirty="0">
                <a:latin typeface="Times New Roman" panose="02020603050405020304" pitchFamily="18" charset="0"/>
                <a:cs typeface="Times New Roman" panose="02020603050405020304" pitchFamily="18" charset="0"/>
              </a:rPr>
              <a:t>Mandatory Structural Features:</a:t>
            </a:r>
            <a:r>
              <a:rPr lang="en-US" sz="1600" dirty="0">
                <a:latin typeface="Times New Roman" panose="02020603050405020304" pitchFamily="18" charset="0"/>
                <a:cs typeface="Times New Roman" panose="02020603050405020304" pitchFamily="18" charset="0"/>
              </a:rPr>
              <a:t> The design is an economical single-story (G+0) structure featuring a mandatory Reinforced Cement Concrete (RCC) roof.</a:t>
            </a:r>
          </a:p>
          <a:p>
            <a:pPr algn="just"/>
            <a:endParaRPr lang="en-US" sz="1000" dirty="0">
              <a:latin typeface="Times New Roman" panose="02020603050405020304" pitchFamily="18" charset="0"/>
              <a:cs typeface="Times New Roman" panose="02020603050405020304" pitchFamily="18" charset="0"/>
            </a:endParaRPr>
          </a:p>
          <a:p>
            <a:pPr algn="just"/>
            <a:r>
              <a:rPr lang="en-US" sz="1600" b="1" dirty="0">
                <a:latin typeface="Times New Roman" panose="02020603050405020304" pitchFamily="18" charset="0"/>
                <a:cs typeface="Times New Roman" panose="02020603050405020304" pitchFamily="18" charset="0"/>
              </a:rPr>
              <a:t>Setback Regulations:</a:t>
            </a:r>
            <a:r>
              <a:rPr lang="en-US" sz="1600" dirty="0">
                <a:latin typeface="Times New Roman" panose="02020603050405020304" pitchFamily="18" charset="0"/>
                <a:cs typeface="Times New Roman" panose="02020603050405020304" pitchFamily="18" charset="0"/>
              </a:rPr>
              <a:t> Following G.O.Ms.No.168 guidelines, a 1.5m free space is maintained at the front, alongside 0.5m setbacks on the sides and the rear.</a:t>
            </a:r>
          </a:p>
          <a:p>
            <a:pPr algn="just"/>
            <a:endParaRPr lang="en-US" sz="1000" dirty="0">
              <a:latin typeface="Times New Roman" panose="02020603050405020304" pitchFamily="18" charset="0"/>
              <a:cs typeface="Times New Roman" panose="02020603050405020304" pitchFamily="18" charset="0"/>
            </a:endParaRPr>
          </a:p>
          <a:p>
            <a:pPr algn="just"/>
            <a:r>
              <a:rPr lang="en-US" sz="1600" b="1" dirty="0">
                <a:latin typeface="Times New Roman" panose="02020603050405020304" pitchFamily="18" charset="0"/>
                <a:cs typeface="Times New Roman" panose="02020603050405020304" pitchFamily="18" charset="0"/>
              </a:rPr>
              <a:t>Optimized Layout:</a:t>
            </a:r>
            <a:r>
              <a:rPr lang="en-US" sz="1600" dirty="0">
                <a:latin typeface="Times New Roman" panose="02020603050405020304" pitchFamily="18" charset="0"/>
                <a:cs typeface="Times New Roman" panose="02020603050405020304" pitchFamily="18" charset="0"/>
              </a:rPr>
              <a:t> The 590 sq. ft. floor plan efficiently houses a multi-purpose living area, one bedroom, a dedicated kitchen, and a combined bath/WC unit.</a:t>
            </a:r>
          </a:p>
          <a:p>
            <a:pPr algn="just"/>
            <a:endParaRPr lang="en-US" sz="1000" dirty="0">
              <a:latin typeface="Times New Roman" panose="02020603050405020304" pitchFamily="18" charset="0"/>
              <a:cs typeface="Times New Roman" panose="02020603050405020304" pitchFamily="18" charset="0"/>
            </a:endParaRPr>
          </a:p>
          <a:p>
            <a:pPr algn="just"/>
            <a:r>
              <a:rPr lang="en-US" sz="1600" b="1" dirty="0">
                <a:latin typeface="Times New Roman" panose="02020603050405020304" pitchFamily="18" charset="0"/>
                <a:cs typeface="Times New Roman" panose="02020603050405020304" pitchFamily="18" charset="0"/>
              </a:rPr>
              <a:t>Environmental Efficiency:</a:t>
            </a:r>
            <a:r>
              <a:rPr lang="en-US" sz="1600" dirty="0">
                <a:latin typeface="Times New Roman" panose="02020603050405020304" pitchFamily="18" charset="0"/>
                <a:cs typeface="Times New Roman" panose="02020603050405020304" pitchFamily="18" charset="0"/>
              </a:rPr>
              <a:t> Room and window placements are strategically designed to ensure natural lighting and effective cross-ventilation within the compact boundary</a:t>
            </a:r>
          </a:p>
        </p:txBody>
      </p:sp>
    </p:spTree>
    <p:extLst>
      <p:ext uri="{BB962C8B-B14F-4D97-AF65-F5344CB8AC3E}">
        <p14:creationId xmlns:p14="http://schemas.microsoft.com/office/powerpoint/2010/main" val="10927791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679B85-B6E5-1C16-EC9E-90665F46B61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E48623B-2AE1-5740-193F-73FA5C572564}"/>
              </a:ext>
            </a:extLst>
          </p:cNvPr>
          <p:cNvSpPr txBox="1"/>
          <p:nvPr/>
        </p:nvSpPr>
        <p:spPr>
          <a:xfrm>
            <a:off x="3631337" y="1020886"/>
            <a:ext cx="4929323"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LOAD CALCULATIONS</a:t>
            </a:r>
          </a:p>
        </p:txBody>
      </p:sp>
      <p:sp>
        <p:nvSpPr>
          <p:cNvPr id="6" name="TextBox 5">
            <a:extLst>
              <a:ext uri="{FF2B5EF4-FFF2-40B4-BE49-F238E27FC236}">
                <a16:creationId xmlns:a16="http://schemas.microsoft.com/office/drawing/2014/main" id="{654563E8-7D2D-0960-1E84-4D3DD29E8FDB}"/>
              </a:ext>
            </a:extLst>
          </p:cNvPr>
          <p:cNvSpPr txBox="1"/>
          <p:nvPr/>
        </p:nvSpPr>
        <p:spPr>
          <a:xfrm>
            <a:off x="1945883" y="2250823"/>
            <a:ext cx="8300229" cy="2985433"/>
          </a:xfrm>
          <a:prstGeom prst="rect">
            <a:avLst/>
          </a:prstGeom>
          <a:noFill/>
        </p:spPr>
        <p:txBody>
          <a:bodyPr wrap="square" anchor="t">
            <a:spAutoFit/>
          </a:bodyPr>
          <a:lstStyle/>
          <a:p>
            <a:pPr algn="just"/>
            <a:r>
              <a:rPr lang="en-US" b="1" dirty="0">
                <a:latin typeface="Times New Roman" panose="02020603050405020304" pitchFamily="18" charset="0"/>
                <a:cs typeface="Times New Roman" panose="02020603050405020304" pitchFamily="18" charset="0"/>
              </a:rPr>
              <a:t>Primary Load Categories:</a:t>
            </a:r>
            <a:r>
              <a:rPr lang="en-US" dirty="0">
                <a:latin typeface="Times New Roman" panose="02020603050405020304" pitchFamily="18" charset="0"/>
                <a:cs typeface="Times New Roman" panose="02020603050405020304" pitchFamily="18" charset="0"/>
              </a:rPr>
              <a:t> The analysis evaluated four types of loads: Dead, Live, Wind, and Earthquake loads.</a:t>
            </a:r>
          </a:p>
          <a:p>
            <a:pPr algn="just"/>
            <a:endParaRPr lang="en-US" sz="1000" dirty="0">
              <a:latin typeface="Times New Roman" panose="02020603050405020304" pitchFamily="18" charset="0"/>
              <a:cs typeface="Times New Roman" panose="02020603050405020304" pitchFamily="18" charset="0"/>
            </a:endParaRPr>
          </a:p>
          <a:p>
            <a:pPr algn="just"/>
            <a:r>
              <a:rPr lang="en-US" sz="1600" b="1" dirty="0">
                <a:latin typeface="Times New Roman" panose="02020603050405020304" pitchFamily="18" charset="0"/>
                <a:cs typeface="Times New Roman" panose="02020603050405020304" pitchFamily="18" charset="0"/>
              </a:rPr>
              <a:t>Dead Loads (DL):</a:t>
            </a:r>
            <a:r>
              <a:rPr lang="en-US" sz="1600" dirty="0">
                <a:latin typeface="Times New Roman" panose="02020603050405020304" pitchFamily="18" charset="0"/>
                <a:cs typeface="Times New Roman" panose="02020603050405020304" pitchFamily="18" charset="0"/>
              </a:rPr>
              <a:t> Calculated using material unit weights per IS 875 Part-1: 1987. For example, Reinforced Cement Concrete (RCC) was taken as 25 KN/m³.</a:t>
            </a:r>
          </a:p>
          <a:p>
            <a:pPr algn="just"/>
            <a:endParaRPr lang="en-US" sz="1000" dirty="0">
              <a:latin typeface="Times New Roman" panose="02020603050405020304" pitchFamily="18" charset="0"/>
              <a:cs typeface="Times New Roman" panose="02020603050405020304" pitchFamily="18" charset="0"/>
            </a:endParaRPr>
          </a:p>
          <a:p>
            <a:pPr algn="just"/>
            <a:r>
              <a:rPr lang="en-US" sz="1600" b="1" dirty="0">
                <a:latin typeface="Times New Roman" panose="02020603050405020304" pitchFamily="18" charset="0"/>
                <a:cs typeface="Times New Roman" panose="02020603050405020304" pitchFamily="18" charset="0"/>
              </a:rPr>
              <a:t>Live/Imposed Loads (LL):</a:t>
            </a:r>
            <a:r>
              <a:rPr lang="en-US" sz="1600" dirty="0">
                <a:latin typeface="Times New Roman" panose="02020603050405020304" pitchFamily="18" charset="0"/>
                <a:cs typeface="Times New Roman" panose="02020603050405020304" pitchFamily="18" charset="0"/>
              </a:rPr>
              <a:t> Determined using IS 875 Part-2: 1987. The roof slab live load is 2.0 KN/m² since access is provided , and standard floor slabs are 2.0 KN/m² for rooms and kitchens.</a:t>
            </a:r>
          </a:p>
          <a:p>
            <a:pPr algn="just"/>
            <a:endParaRPr lang="en-US" sz="1000" dirty="0">
              <a:latin typeface="Times New Roman" panose="02020603050405020304" pitchFamily="18" charset="0"/>
              <a:cs typeface="Times New Roman" panose="02020603050405020304" pitchFamily="18" charset="0"/>
            </a:endParaRPr>
          </a:p>
          <a:p>
            <a:pPr algn="just"/>
            <a:r>
              <a:rPr lang="en-US" sz="1600" b="1" dirty="0">
                <a:latin typeface="Times New Roman" panose="02020603050405020304" pitchFamily="18" charset="0"/>
                <a:cs typeface="Times New Roman" panose="02020603050405020304" pitchFamily="18" charset="0"/>
              </a:rPr>
              <a:t>Excluded Loads:</a:t>
            </a:r>
            <a:r>
              <a:rPr lang="en-US" sz="1600" dirty="0">
                <a:latin typeface="Times New Roman" panose="02020603050405020304" pitchFamily="18" charset="0"/>
                <a:cs typeface="Times New Roman" panose="02020603050405020304" pitchFamily="18" charset="0"/>
              </a:rPr>
              <a:t> Wind loads were excluded because the National Building Code only requires them for structures 15m in height and above. Earthquake loads were also not considered because the plot is not located in an earthquake-prone area.</a:t>
            </a:r>
          </a:p>
          <a:p>
            <a:pPr algn="just"/>
            <a:endParaRPr lang="en-US" sz="1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00146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6E832A-DFA9-2842-203F-98567B6B3D4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013E5D7-2A5E-311C-F8CD-9850EB31ABE7}"/>
              </a:ext>
            </a:extLst>
          </p:cNvPr>
          <p:cNvSpPr txBox="1"/>
          <p:nvPr/>
        </p:nvSpPr>
        <p:spPr>
          <a:xfrm>
            <a:off x="3510850" y="1036969"/>
            <a:ext cx="5170293"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STRUCTURAL ANALYSIS</a:t>
            </a:r>
          </a:p>
        </p:txBody>
      </p:sp>
      <p:sp>
        <p:nvSpPr>
          <p:cNvPr id="6" name="TextBox 5">
            <a:extLst>
              <a:ext uri="{FF2B5EF4-FFF2-40B4-BE49-F238E27FC236}">
                <a16:creationId xmlns:a16="http://schemas.microsoft.com/office/drawing/2014/main" id="{7F66838B-43AD-6800-3EE9-A2631E4F04CB}"/>
              </a:ext>
            </a:extLst>
          </p:cNvPr>
          <p:cNvSpPr txBox="1"/>
          <p:nvPr/>
        </p:nvSpPr>
        <p:spPr>
          <a:xfrm>
            <a:off x="764063" y="1867967"/>
            <a:ext cx="5170294" cy="4247317"/>
          </a:xfrm>
          <a:prstGeom prst="rect">
            <a:avLst/>
          </a:prstGeom>
          <a:noFill/>
        </p:spPr>
        <p:txBody>
          <a:bodyPr wrap="square" anchor="t">
            <a:spAutoFit/>
          </a:bodyPr>
          <a:lstStyle/>
          <a:p>
            <a:pPr lvl="0" algn="just" eaLnBrk="0" fontAlgn="base" hangingPunct="0">
              <a:spcBef>
                <a:spcPct val="0"/>
              </a:spcBef>
              <a:spcAft>
                <a:spcPct val="0"/>
              </a:spcAft>
            </a:pPr>
            <a:endParaRPr lang="en-US" altLang="en-US" dirty="0">
              <a:latin typeface="Times New Roman" panose="02020603050405020304" pitchFamily="18" charset="0"/>
              <a:cs typeface="Times New Roman" panose="02020603050405020304" pitchFamily="18" charset="0"/>
            </a:endParaRPr>
          </a:p>
          <a:p>
            <a:pPr marL="285750" lvl="0" indent="-285750" algn="just" eaLnBrk="0" fontAlgn="base" hangingPunct="0">
              <a:spcBef>
                <a:spcPct val="0"/>
              </a:spcBef>
              <a:spcAft>
                <a:spcPct val="0"/>
              </a:spcAft>
              <a:buFont typeface="Arial" panose="020B0604020202020204" pitchFamily="34" charset="0"/>
              <a:buChar char="•"/>
            </a:pPr>
            <a:r>
              <a:rPr lang="en-US" altLang="en-US" b="1" dirty="0">
                <a:latin typeface="Times New Roman" panose="02020603050405020304" pitchFamily="18" charset="0"/>
                <a:cs typeface="Times New Roman" panose="02020603050405020304" pitchFamily="18" charset="0"/>
              </a:rPr>
              <a:t>Methodology:</a:t>
            </a:r>
            <a:r>
              <a:rPr lang="en-US" altLang="en-US" dirty="0">
                <a:latin typeface="Times New Roman" panose="02020603050405020304" pitchFamily="18" charset="0"/>
                <a:cs typeface="Times New Roman" panose="02020603050405020304" pitchFamily="18" charset="0"/>
              </a:rPr>
              <a:t> Frame analysis executed manually using Kani’s Iterative Method for critical frames (e.g., Frame A1-B1-C1).</a:t>
            </a:r>
          </a:p>
          <a:p>
            <a:pPr marL="285750" lvl="0" indent="-285750" algn="just" eaLnBrk="0" fontAlgn="base" hangingPunct="0">
              <a:spcBef>
                <a:spcPct val="0"/>
              </a:spcBef>
              <a:spcAft>
                <a:spcPct val="0"/>
              </a:spcAft>
              <a:buFont typeface="Arial" panose="020B0604020202020204" pitchFamily="34" charset="0"/>
              <a:buChar char="•"/>
            </a:pPr>
            <a:r>
              <a:rPr lang="en-US" altLang="en-US" b="1" dirty="0">
                <a:latin typeface="Times New Roman" panose="02020603050405020304" pitchFamily="18" charset="0"/>
                <a:cs typeface="Times New Roman" panose="02020603050405020304" pitchFamily="18" charset="0"/>
              </a:rPr>
              <a:t>Key Parameters:</a:t>
            </a:r>
            <a:r>
              <a:rPr lang="en-US" altLang="en-US" dirty="0">
                <a:latin typeface="Times New Roman" panose="02020603050405020304" pitchFamily="18" charset="0"/>
                <a:cs typeface="Times New Roman" panose="02020603050405020304" pitchFamily="18" charset="0"/>
              </a:rPr>
              <a:t> Systematic calculation of Fixed End Moments (FEM) based on load distribution, Stiffness factors (k = 4EI/L), and Rotation Factors.</a:t>
            </a:r>
          </a:p>
          <a:p>
            <a:pPr marL="285750" lvl="0" indent="-285750" algn="just" eaLnBrk="0" fontAlgn="base" hangingPunct="0">
              <a:spcBef>
                <a:spcPct val="0"/>
              </a:spcBef>
              <a:spcAft>
                <a:spcPct val="0"/>
              </a:spcAft>
              <a:buFont typeface="Arial" panose="020B0604020202020204" pitchFamily="34" charset="0"/>
              <a:buChar char="•"/>
            </a:pPr>
            <a:r>
              <a:rPr lang="en-US" altLang="en-US" b="1" dirty="0">
                <a:latin typeface="Times New Roman" panose="02020603050405020304" pitchFamily="18" charset="0"/>
                <a:cs typeface="Times New Roman" panose="02020603050405020304" pitchFamily="18" charset="0"/>
              </a:rPr>
              <a:t>Iteration Process:</a:t>
            </a:r>
            <a:r>
              <a:rPr lang="en-US" altLang="en-US" dirty="0">
                <a:latin typeface="Times New Roman" panose="02020603050405020304" pitchFamily="18" charset="0"/>
                <a:cs typeface="Times New Roman" panose="02020603050405020304" pitchFamily="18" charset="0"/>
              </a:rPr>
              <a:t> Successive distribution of joint moments. Iterations were carried out until joint equilibrium was achieved and values stabilized.</a:t>
            </a:r>
          </a:p>
          <a:p>
            <a:pPr marL="285750" lvl="0" indent="-285750" algn="just" eaLnBrk="0" fontAlgn="base" hangingPunct="0">
              <a:spcBef>
                <a:spcPct val="0"/>
              </a:spcBef>
              <a:spcAft>
                <a:spcPct val="0"/>
              </a:spcAft>
              <a:buFont typeface="Arial" panose="020B0604020202020204" pitchFamily="34" charset="0"/>
              <a:buChar char="•"/>
            </a:pPr>
            <a:r>
              <a:rPr lang="en-US" altLang="en-US" b="1" dirty="0">
                <a:latin typeface="Times New Roman" panose="02020603050405020304" pitchFamily="18" charset="0"/>
                <a:cs typeface="Times New Roman" panose="02020603050405020304" pitchFamily="18" charset="0"/>
              </a:rPr>
              <a:t>Final Output:</a:t>
            </a:r>
            <a:r>
              <a:rPr lang="en-US" altLang="en-US" dirty="0">
                <a:latin typeface="Times New Roman" panose="02020603050405020304" pitchFamily="18" charset="0"/>
                <a:cs typeface="Times New Roman" panose="02020603050405020304" pitchFamily="18" charset="0"/>
              </a:rPr>
              <a:t> Derivation of Final End Moments to accurately construct the Bending Moment Diagram (BMD) and Shear Force Diagram (SFD) for component design.</a:t>
            </a:r>
          </a:p>
          <a:p>
            <a:pPr lvl="0" algn="just" eaLnBrk="0" fontAlgn="base" hangingPunct="0">
              <a:spcBef>
                <a:spcPct val="0"/>
              </a:spcBef>
              <a:spcAft>
                <a:spcPct val="0"/>
              </a:spcAft>
            </a:pPr>
            <a:endParaRPr lang="en-US" altLang="en-US"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D4258F89-EA2C-8EA2-C531-E402913298D3}"/>
              </a:ext>
            </a:extLst>
          </p:cNvPr>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6890875" y="2458527"/>
            <a:ext cx="4537062" cy="2838091"/>
          </a:xfrm>
          <a:prstGeom prst="rect">
            <a:avLst/>
          </a:prstGeom>
        </p:spPr>
      </p:pic>
      <p:sp>
        <p:nvSpPr>
          <p:cNvPr id="10" name="TextBox 9">
            <a:extLst>
              <a:ext uri="{FF2B5EF4-FFF2-40B4-BE49-F238E27FC236}">
                <a16:creationId xmlns:a16="http://schemas.microsoft.com/office/drawing/2014/main" id="{A41B1C7C-9A31-476C-FEDA-661A6F8F10FE}"/>
              </a:ext>
            </a:extLst>
          </p:cNvPr>
          <p:cNvSpPr txBox="1"/>
          <p:nvPr/>
        </p:nvSpPr>
        <p:spPr>
          <a:xfrm>
            <a:off x="7832785" y="5382883"/>
            <a:ext cx="3122762" cy="646331"/>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Bending Moment Diagram</a:t>
            </a:r>
          </a:p>
          <a:p>
            <a:pPr algn="ctr"/>
            <a:r>
              <a:rPr lang="en-IN" dirty="0">
                <a:latin typeface="Times New Roman" panose="02020603050405020304" pitchFamily="18" charset="0"/>
                <a:cs typeface="Times New Roman" panose="02020603050405020304" pitchFamily="18" charset="0"/>
              </a:rPr>
              <a:t>Of A1-B1-C1</a:t>
            </a:r>
          </a:p>
        </p:txBody>
      </p:sp>
    </p:spTree>
    <p:extLst>
      <p:ext uri="{BB962C8B-B14F-4D97-AF65-F5344CB8AC3E}">
        <p14:creationId xmlns:p14="http://schemas.microsoft.com/office/powerpoint/2010/main" val="29801565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3365E1-8870-1B05-BF92-AF9B5499BEC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71F8451-F74C-7E9F-1B78-DF2097DA6ABD}"/>
              </a:ext>
            </a:extLst>
          </p:cNvPr>
          <p:cNvSpPr txBox="1"/>
          <p:nvPr/>
        </p:nvSpPr>
        <p:spPr>
          <a:xfrm>
            <a:off x="3412013" y="976607"/>
            <a:ext cx="5367974"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SLAB DESIGN (IS 456:2000)</a:t>
            </a:r>
          </a:p>
        </p:txBody>
      </p:sp>
      <p:sp>
        <p:nvSpPr>
          <p:cNvPr id="6" name="TextBox 5">
            <a:extLst>
              <a:ext uri="{FF2B5EF4-FFF2-40B4-BE49-F238E27FC236}">
                <a16:creationId xmlns:a16="http://schemas.microsoft.com/office/drawing/2014/main" id="{F8893DC4-B099-2B40-DDFB-358CEC9304F1}"/>
              </a:ext>
            </a:extLst>
          </p:cNvPr>
          <p:cNvSpPr txBox="1"/>
          <p:nvPr/>
        </p:nvSpPr>
        <p:spPr>
          <a:xfrm>
            <a:off x="764062" y="2188074"/>
            <a:ext cx="5078953" cy="3693319"/>
          </a:xfrm>
          <a:prstGeom prst="rect">
            <a:avLst/>
          </a:prstGeom>
          <a:noFill/>
        </p:spPr>
        <p:txBody>
          <a:bodyPr wrap="square" anchor="t">
            <a:spAutoFit/>
          </a:bodyPr>
          <a:lstStyle/>
          <a:p>
            <a:pPr marL="285750" lvl="0" indent="-285750" algn="just" eaLnBrk="0" fontAlgn="base" hangingPunct="0">
              <a:spcBef>
                <a:spcPct val="0"/>
              </a:spcBef>
              <a:spcAft>
                <a:spcPct val="0"/>
              </a:spcAft>
              <a:buFont typeface="Arial" panose="020B0604020202020204" pitchFamily="34" charset="0"/>
              <a:buChar char="•"/>
            </a:pPr>
            <a:r>
              <a:rPr lang="en-US" altLang="en-US" b="1" dirty="0">
                <a:latin typeface="Times New Roman" panose="02020603050405020304" pitchFamily="18" charset="0"/>
                <a:cs typeface="Times New Roman" panose="02020603050405020304" pitchFamily="18" charset="0"/>
              </a:rPr>
              <a:t>Design Approach:</a:t>
            </a:r>
            <a:r>
              <a:rPr lang="en-US" altLang="en-US" dirty="0">
                <a:latin typeface="Times New Roman" panose="02020603050405020304" pitchFamily="18" charset="0"/>
                <a:cs typeface="Times New Roman" panose="02020603050405020304" pitchFamily="18" charset="0"/>
              </a:rPr>
              <a:t> Limit State Method (LSM) utilized as per IS 456:2000 guidelines.</a:t>
            </a:r>
          </a:p>
          <a:p>
            <a:pPr marL="285750" lvl="0" indent="-285750" algn="just" eaLnBrk="0" fontAlgn="base" hangingPunct="0">
              <a:spcBef>
                <a:spcPct val="0"/>
              </a:spcBef>
              <a:spcAft>
                <a:spcPct val="0"/>
              </a:spcAft>
              <a:buFont typeface="Arial" panose="020B0604020202020204" pitchFamily="34" charset="0"/>
              <a:buChar char="•"/>
            </a:pPr>
            <a:r>
              <a:rPr lang="en-US" altLang="en-US" b="1" dirty="0">
                <a:latin typeface="Times New Roman" panose="02020603050405020304" pitchFamily="18" charset="0"/>
                <a:cs typeface="Times New Roman" panose="02020603050405020304" pitchFamily="18" charset="0"/>
              </a:rPr>
              <a:t>Slab Classification:</a:t>
            </a:r>
            <a:r>
              <a:rPr lang="en-US" altLang="en-US" dirty="0">
                <a:latin typeface="Times New Roman" panose="02020603050405020304" pitchFamily="18" charset="0"/>
                <a:cs typeface="Times New Roman" panose="02020603050405020304" pitchFamily="18" charset="0"/>
              </a:rPr>
              <a:t> Designed as a Two-Way Slab, as the ratio of longer span to shorter span (Ly/Lx) is less than 2.0.</a:t>
            </a:r>
          </a:p>
          <a:p>
            <a:pPr marL="285750" lvl="0" indent="-285750" algn="just" eaLnBrk="0" fontAlgn="base" hangingPunct="0">
              <a:spcBef>
                <a:spcPct val="0"/>
              </a:spcBef>
              <a:spcAft>
                <a:spcPct val="0"/>
              </a:spcAft>
              <a:buFont typeface="Arial" panose="020B0604020202020204" pitchFamily="34" charset="0"/>
              <a:buChar char="•"/>
            </a:pPr>
            <a:r>
              <a:rPr lang="en-US" altLang="en-US" b="1" dirty="0">
                <a:latin typeface="Times New Roman" panose="02020603050405020304" pitchFamily="18" charset="0"/>
                <a:cs typeface="Times New Roman" panose="02020603050405020304" pitchFamily="18" charset="0"/>
              </a:rPr>
              <a:t>Material Specifications:</a:t>
            </a:r>
            <a:r>
              <a:rPr lang="en-US" altLang="en-US" dirty="0">
                <a:latin typeface="Times New Roman" panose="02020603050405020304" pitchFamily="18" charset="0"/>
                <a:cs typeface="Times New Roman" panose="02020603050405020304" pitchFamily="18" charset="0"/>
              </a:rPr>
              <a:t> M20 Grade Concrete and Fe 500 Grade Steel.</a:t>
            </a:r>
          </a:p>
          <a:p>
            <a:pPr marL="285750" lvl="0" indent="-285750" algn="just" eaLnBrk="0" fontAlgn="base" hangingPunct="0">
              <a:spcBef>
                <a:spcPct val="0"/>
              </a:spcBef>
              <a:spcAft>
                <a:spcPct val="0"/>
              </a:spcAft>
              <a:buFont typeface="Arial" panose="020B0604020202020204" pitchFamily="34" charset="0"/>
              <a:buChar char="•"/>
            </a:pPr>
            <a:r>
              <a:rPr lang="en-US" altLang="en-US" b="1" dirty="0">
                <a:latin typeface="Times New Roman" panose="02020603050405020304" pitchFamily="18" charset="0"/>
                <a:cs typeface="Times New Roman" panose="02020603050405020304" pitchFamily="18" charset="0"/>
              </a:rPr>
              <a:t>Optimized Dimensions:</a:t>
            </a:r>
            <a:r>
              <a:rPr lang="en-US" altLang="en-US" dirty="0">
                <a:latin typeface="Times New Roman" panose="02020603050405020304" pitchFamily="18" charset="0"/>
                <a:cs typeface="Times New Roman" panose="02020603050405020304" pitchFamily="18" charset="0"/>
              </a:rPr>
              <a:t> Overall depth restricted to </a:t>
            </a:r>
            <a:r>
              <a:rPr lang="en-US" altLang="en-US" b="1" dirty="0">
                <a:latin typeface="Times New Roman" panose="02020603050405020304" pitchFamily="18" charset="0"/>
                <a:cs typeface="Times New Roman" panose="02020603050405020304" pitchFamily="18" charset="0"/>
              </a:rPr>
              <a:t>100mm</a:t>
            </a:r>
            <a:r>
              <a:rPr lang="en-US" altLang="en-US" dirty="0">
                <a:latin typeface="Times New Roman" panose="02020603050405020304" pitchFamily="18" charset="0"/>
                <a:cs typeface="Times New Roman" panose="02020603050405020304" pitchFamily="18" charset="0"/>
              </a:rPr>
              <a:t> to minimize concrete volume and control costs.</a:t>
            </a:r>
          </a:p>
          <a:p>
            <a:pPr marL="285750" lvl="0" indent="-285750" algn="just" eaLnBrk="0" fontAlgn="base" hangingPunct="0">
              <a:spcBef>
                <a:spcPct val="0"/>
              </a:spcBef>
              <a:spcAft>
                <a:spcPct val="0"/>
              </a:spcAft>
              <a:buFont typeface="Arial" panose="020B0604020202020204" pitchFamily="34" charset="0"/>
              <a:buChar char="•"/>
            </a:pPr>
            <a:r>
              <a:rPr lang="en-US" altLang="en-US" b="1" dirty="0">
                <a:latin typeface="Times New Roman" panose="02020603050405020304" pitchFamily="18" charset="0"/>
                <a:cs typeface="Times New Roman" panose="02020603050405020304" pitchFamily="18" charset="0"/>
              </a:rPr>
              <a:t>Safety Checks:</a:t>
            </a:r>
            <a:r>
              <a:rPr lang="en-US" altLang="en-US" dirty="0">
                <a:latin typeface="Times New Roman" panose="02020603050405020304" pitchFamily="18" charset="0"/>
                <a:cs typeface="Times New Roman" panose="02020603050405020304" pitchFamily="18" charset="0"/>
              </a:rPr>
              <a:t> Successfully satisfied the deflection control criteria using the appropriate Modification Factor for tension reinforcement.</a:t>
            </a:r>
          </a:p>
        </p:txBody>
      </p:sp>
      <p:sp>
        <p:nvSpPr>
          <p:cNvPr id="10" name="TextBox 9">
            <a:extLst>
              <a:ext uri="{FF2B5EF4-FFF2-40B4-BE49-F238E27FC236}">
                <a16:creationId xmlns:a16="http://schemas.microsoft.com/office/drawing/2014/main" id="{D848F076-6A20-AFF3-881E-CEB3F82F6794}"/>
              </a:ext>
            </a:extLst>
          </p:cNvPr>
          <p:cNvSpPr txBox="1"/>
          <p:nvPr/>
        </p:nvSpPr>
        <p:spPr>
          <a:xfrm>
            <a:off x="7561972" y="5597929"/>
            <a:ext cx="3122762" cy="369332"/>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Slab reinforcement</a:t>
            </a:r>
          </a:p>
        </p:txBody>
      </p:sp>
      <p:pic>
        <p:nvPicPr>
          <p:cNvPr id="5" name="Picture 4">
            <a:extLst>
              <a:ext uri="{FF2B5EF4-FFF2-40B4-BE49-F238E27FC236}">
                <a16:creationId xmlns:a16="http://schemas.microsoft.com/office/drawing/2014/main" id="{7F740A61-5D50-AA0C-7F5C-2A56996B0E1D}"/>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2316"/>
                    </a14:imgEffect>
                    <a14:imgEffect>
                      <a14:saturation sat="0"/>
                    </a14:imgEffect>
                  </a14:imgLayer>
                </a14:imgProps>
              </a:ext>
            </a:extLst>
          </a:blip>
          <a:stretch>
            <a:fillRect/>
          </a:stretch>
        </p:blipFill>
        <p:spPr>
          <a:xfrm>
            <a:off x="6720839" y="2089864"/>
            <a:ext cx="4805029" cy="3487976"/>
          </a:xfrm>
          <a:prstGeom prst="rect">
            <a:avLst/>
          </a:prstGeom>
        </p:spPr>
      </p:pic>
    </p:spTree>
    <p:extLst>
      <p:ext uri="{BB962C8B-B14F-4D97-AF65-F5344CB8AC3E}">
        <p14:creationId xmlns:p14="http://schemas.microsoft.com/office/powerpoint/2010/main" val="25488347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BE7EDD-99F4-600C-5655-CC73A0FB01C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19155BF-D2AA-117A-0455-2F368B296DF2}"/>
              </a:ext>
            </a:extLst>
          </p:cNvPr>
          <p:cNvSpPr txBox="1"/>
          <p:nvPr/>
        </p:nvSpPr>
        <p:spPr>
          <a:xfrm>
            <a:off x="1660815" y="684219"/>
            <a:ext cx="8870370"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BEAM DESIGN &amp; SHEAR REINFORCEMENT</a:t>
            </a:r>
          </a:p>
        </p:txBody>
      </p:sp>
      <p:sp>
        <p:nvSpPr>
          <p:cNvPr id="6" name="TextBox 5">
            <a:extLst>
              <a:ext uri="{FF2B5EF4-FFF2-40B4-BE49-F238E27FC236}">
                <a16:creationId xmlns:a16="http://schemas.microsoft.com/office/drawing/2014/main" id="{44894995-2594-8E0C-FE51-0B7107E28607}"/>
              </a:ext>
            </a:extLst>
          </p:cNvPr>
          <p:cNvSpPr txBox="1"/>
          <p:nvPr/>
        </p:nvSpPr>
        <p:spPr>
          <a:xfrm>
            <a:off x="572038" y="2188074"/>
            <a:ext cx="5371562" cy="4247317"/>
          </a:xfrm>
          <a:prstGeom prst="rect">
            <a:avLst/>
          </a:prstGeom>
          <a:noFill/>
        </p:spPr>
        <p:txBody>
          <a:bodyPr wrap="square" anchor="t">
            <a:spAutoFit/>
          </a:bodyPr>
          <a:lstStyle/>
          <a:p>
            <a:pPr marL="285750" lvl="0" indent="-285750" algn="just" eaLnBrk="0" fontAlgn="base" hangingPunct="0">
              <a:spcBef>
                <a:spcPct val="0"/>
              </a:spcBef>
              <a:spcAft>
                <a:spcPct val="0"/>
              </a:spcAft>
              <a:buFont typeface="Arial" panose="020B0604020202020204" pitchFamily="34" charset="0"/>
              <a:buChar char="•"/>
            </a:pPr>
            <a:r>
              <a:rPr lang="en-US" altLang="en-US" b="1" dirty="0">
                <a:latin typeface="Times New Roman" panose="02020603050405020304" pitchFamily="18" charset="0"/>
                <a:cs typeface="Times New Roman" panose="02020603050405020304" pitchFamily="18" charset="0"/>
              </a:rPr>
              <a:t>Design Concept:</a:t>
            </a:r>
            <a:r>
              <a:rPr lang="en-US" altLang="en-US" dirty="0">
                <a:latin typeface="Times New Roman" panose="02020603050405020304" pitchFamily="18" charset="0"/>
                <a:cs typeface="Times New Roman" panose="02020603050405020304" pitchFamily="18" charset="0"/>
              </a:rPr>
              <a:t> Beams designed as continuous rectangular sections using the Limit State of Collapse (Flexure and Shear).</a:t>
            </a:r>
          </a:p>
          <a:p>
            <a:pPr marL="285750" lvl="0" indent="-285750" algn="just" eaLnBrk="0" fontAlgn="base" hangingPunct="0">
              <a:spcBef>
                <a:spcPct val="0"/>
              </a:spcBef>
              <a:spcAft>
                <a:spcPct val="0"/>
              </a:spcAft>
              <a:buFont typeface="Arial" panose="020B0604020202020204" pitchFamily="34" charset="0"/>
              <a:buChar char="•"/>
            </a:pPr>
            <a:r>
              <a:rPr lang="en-US" altLang="en-US" b="1" dirty="0">
                <a:latin typeface="Times New Roman" panose="02020603050405020304" pitchFamily="18" charset="0"/>
                <a:cs typeface="Times New Roman" panose="02020603050405020304" pitchFamily="18" charset="0"/>
              </a:rPr>
              <a:t>Flexural Reinforcement:</a:t>
            </a:r>
            <a:r>
              <a:rPr lang="en-US" altLang="en-US" dirty="0">
                <a:latin typeface="Times New Roman" panose="02020603050405020304" pitchFamily="18" charset="0"/>
                <a:cs typeface="Times New Roman" panose="02020603050405020304" pitchFamily="18" charset="0"/>
              </a:rPr>
              <a:t> Area of tension steel (Ast) calculated using maximum bending moments derived from Kani’s analysis.</a:t>
            </a:r>
          </a:p>
          <a:p>
            <a:pPr marL="285750" lvl="0" indent="-285750" algn="just" eaLnBrk="0" fontAlgn="base" hangingPunct="0">
              <a:spcBef>
                <a:spcPct val="0"/>
              </a:spcBef>
              <a:spcAft>
                <a:spcPct val="0"/>
              </a:spcAft>
              <a:buFont typeface="Arial" panose="020B0604020202020204" pitchFamily="34" charset="0"/>
              <a:buChar char="•"/>
            </a:pPr>
            <a:r>
              <a:rPr lang="en-US" altLang="en-US" b="1" dirty="0">
                <a:latin typeface="Times New Roman" panose="02020603050405020304" pitchFamily="18" charset="0"/>
                <a:cs typeface="Times New Roman" panose="02020603050405020304" pitchFamily="18" charset="0"/>
              </a:rPr>
              <a:t>Safety Protocol:</a:t>
            </a:r>
            <a:r>
              <a:rPr lang="en-US" altLang="en-US" dirty="0">
                <a:latin typeface="Times New Roman" panose="02020603050405020304" pitchFamily="18" charset="0"/>
                <a:cs typeface="Times New Roman" panose="02020603050405020304" pitchFamily="18" charset="0"/>
              </a:rPr>
              <a:t> Strictly designed as </a:t>
            </a:r>
            <a:r>
              <a:rPr lang="en-US" altLang="en-US" b="1" dirty="0">
                <a:latin typeface="Times New Roman" panose="02020603050405020304" pitchFamily="18" charset="0"/>
                <a:cs typeface="Times New Roman" panose="02020603050405020304" pitchFamily="18" charset="0"/>
              </a:rPr>
              <a:t>Under-Reinforced Sections</a:t>
            </a:r>
            <a:r>
              <a:rPr lang="en-US" altLang="en-US" dirty="0">
                <a:latin typeface="Times New Roman" panose="02020603050405020304" pitchFamily="18" charset="0"/>
                <a:cs typeface="Times New Roman" panose="02020603050405020304" pitchFamily="18" charset="0"/>
              </a:rPr>
              <a:t> (Mu &lt; Mu, limit) to ensure ductile behavior and visible warning before failure.</a:t>
            </a:r>
          </a:p>
          <a:p>
            <a:pPr marL="285750" lvl="0" indent="-285750" algn="just" eaLnBrk="0" fontAlgn="base" hangingPunct="0">
              <a:spcBef>
                <a:spcPct val="0"/>
              </a:spcBef>
              <a:spcAft>
                <a:spcPct val="0"/>
              </a:spcAft>
              <a:buFont typeface="Arial" panose="020B0604020202020204" pitchFamily="34" charset="0"/>
              <a:buChar char="•"/>
            </a:pPr>
            <a:r>
              <a:rPr lang="en-US" altLang="en-US" b="1" dirty="0">
                <a:latin typeface="Times New Roman" panose="02020603050405020304" pitchFamily="18" charset="0"/>
                <a:cs typeface="Times New Roman" panose="02020603050405020304" pitchFamily="18" charset="0"/>
              </a:rPr>
              <a:t>Shear Check:</a:t>
            </a:r>
            <a:r>
              <a:rPr lang="en-US" altLang="en-US" dirty="0">
                <a:latin typeface="Times New Roman" panose="02020603050405020304" pitchFamily="18" charset="0"/>
                <a:cs typeface="Times New Roman" panose="02020603050405020304" pitchFamily="18" charset="0"/>
              </a:rPr>
              <a:t> Nominal shear stress (</a:t>
            </a:r>
            <a:r>
              <a:rPr lang="el-GR" altLang="en-US" dirty="0">
                <a:latin typeface="Times New Roman" panose="02020603050405020304" pitchFamily="18" charset="0"/>
                <a:cs typeface="Times New Roman" panose="02020603050405020304" pitchFamily="18" charset="0"/>
              </a:rPr>
              <a:t>τ</a:t>
            </a:r>
            <a:r>
              <a:rPr lang="en-US" altLang="en-US" baseline="-25000" dirty="0">
                <a:latin typeface="Times New Roman" panose="02020603050405020304" pitchFamily="18" charset="0"/>
                <a:cs typeface="Times New Roman" panose="02020603050405020304" pitchFamily="18" charset="0"/>
              </a:rPr>
              <a:t>v</a:t>
            </a:r>
            <a:r>
              <a:rPr lang="en-US" altLang="en-US" dirty="0">
                <a:latin typeface="Times New Roman" panose="02020603050405020304" pitchFamily="18" charset="0"/>
                <a:cs typeface="Times New Roman" panose="02020603050405020304" pitchFamily="18" charset="0"/>
              </a:rPr>
              <a:t>) was compared against the design shear strength of concrete (</a:t>
            </a:r>
            <a:r>
              <a:rPr lang="el-GR" altLang="en-US" dirty="0">
                <a:latin typeface="Times New Roman" panose="02020603050405020304" pitchFamily="18" charset="0"/>
                <a:cs typeface="Times New Roman" panose="02020603050405020304" pitchFamily="18" charset="0"/>
              </a:rPr>
              <a:t>τ</a:t>
            </a:r>
            <a:r>
              <a:rPr lang="en-US" altLang="en-US" baseline="-25000" dirty="0">
                <a:latin typeface="Times New Roman" panose="02020603050405020304" pitchFamily="18" charset="0"/>
                <a:cs typeface="Times New Roman" panose="02020603050405020304" pitchFamily="18" charset="0"/>
              </a:rPr>
              <a:t>c</a:t>
            </a:r>
            <a:r>
              <a:rPr lang="en-US" altLang="en-US" dirty="0">
                <a:latin typeface="Times New Roman" panose="02020603050405020304" pitchFamily="18" charset="0"/>
                <a:cs typeface="Times New Roman" panose="02020603050405020304" pitchFamily="18" charset="0"/>
              </a:rPr>
              <a:t>) from Table 19 of IS 456.</a:t>
            </a:r>
          </a:p>
          <a:p>
            <a:pPr marL="285750" lvl="0" indent="-285750" algn="just" eaLnBrk="0" fontAlgn="base" hangingPunct="0">
              <a:spcBef>
                <a:spcPct val="0"/>
              </a:spcBef>
              <a:spcAft>
                <a:spcPct val="0"/>
              </a:spcAft>
              <a:buFont typeface="Arial" panose="020B0604020202020204" pitchFamily="34" charset="0"/>
              <a:buChar char="•"/>
            </a:pPr>
            <a:r>
              <a:rPr lang="en-US" altLang="en-US" b="1" dirty="0">
                <a:latin typeface="Times New Roman" panose="02020603050405020304" pitchFamily="18" charset="0"/>
                <a:cs typeface="Times New Roman" panose="02020603050405020304" pitchFamily="18" charset="0"/>
              </a:rPr>
              <a:t>Shear Reinforcement:</a:t>
            </a:r>
            <a:r>
              <a:rPr lang="en-US" altLang="en-US" dirty="0">
                <a:latin typeface="Times New Roman" panose="02020603050405020304" pitchFamily="18" charset="0"/>
                <a:cs typeface="Times New Roman" panose="02020603050405020304" pitchFamily="18" charset="0"/>
              </a:rPr>
              <a:t> Provided </a:t>
            </a:r>
            <a:r>
              <a:rPr lang="en-US" altLang="en-US" b="1" dirty="0">
                <a:latin typeface="Times New Roman" panose="02020603050405020304" pitchFamily="18" charset="0"/>
                <a:cs typeface="Times New Roman" panose="02020603050405020304" pitchFamily="18" charset="0"/>
              </a:rPr>
              <a:t>8mm Ø 2-legged vertical stirrups at 275mm c/c</a:t>
            </a:r>
            <a:r>
              <a:rPr lang="en-US" altLang="en-US" dirty="0">
                <a:latin typeface="Times New Roman" panose="02020603050405020304" pitchFamily="18" charset="0"/>
                <a:cs typeface="Times New Roman" panose="02020603050405020304" pitchFamily="18" charset="0"/>
              </a:rPr>
              <a:t> where </a:t>
            </a:r>
            <a:r>
              <a:rPr lang="el-GR" altLang="en-US" dirty="0">
                <a:latin typeface="Times New Roman" panose="02020603050405020304" pitchFamily="18" charset="0"/>
                <a:cs typeface="Times New Roman" panose="02020603050405020304" pitchFamily="18" charset="0"/>
              </a:rPr>
              <a:t>τ</a:t>
            </a:r>
            <a:r>
              <a:rPr lang="en-US" altLang="en-US" baseline="-25000" dirty="0">
                <a:latin typeface="Times New Roman" panose="02020603050405020304" pitchFamily="18" charset="0"/>
                <a:cs typeface="Times New Roman" panose="02020603050405020304" pitchFamily="18" charset="0"/>
              </a:rPr>
              <a:t>v</a:t>
            </a:r>
            <a:r>
              <a:rPr lang="en-US" altLang="en-US" dirty="0">
                <a:latin typeface="Times New Roman" panose="02020603050405020304" pitchFamily="18" charset="0"/>
                <a:cs typeface="Times New Roman" panose="02020603050405020304" pitchFamily="18" charset="0"/>
              </a:rPr>
              <a:t> exceeded </a:t>
            </a:r>
            <a:r>
              <a:rPr lang="el-GR" altLang="en-US" dirty="0">
                <a:latin typeface="Times New Roman" panose="02020603050405020304" pitchFamily="18" charset="0"/>
                <a:cs typeface="Times New Roman" panose="02020603050405020304" pitchFamily="18" charset="0"/>
              </a:rPr>
              <a:t>τ</a:t>
            </a:r>
            <a:r>
              <a:rPr lang="en-US" altLang="en-US" baseline="-25000" dirty="0">
                <a:latin typeface="Times New Roman" panose="02020603050405020304" pitchFamily="18" charset="0"/>
                <a:cs typeface="Times New Roman" panose="02020603050405020304" pitchFamily="18" charset="0"/>
              </a:rPr>
              <a:t>c</a:t>
            </a:r>
            <a:r>
              <a:rPr lang="en-US" altLang="en-US" dirty="0">
                <a:latin typeface="Times New Roman" panose="02020603050405020304" pitchFamily="18" charset="0"/>
                <a:cs typeface="Times New Roman" panose="02020603050405020304" pitchFamily="18" charset="0"/>
              </a:rPr>
              <a:t>.</a:t>
            </a:r>
          </a:p>
        </p:txBody>
      </p:sp>
      <p:sp>
        <p:nvSpPr>
          <p:cNvPr id="10" name="TextBox 9">
            <a:extLst>
              <a:ext uri="{FF2B5EF4-FFF2-40B4-BE49-F238E27FC236}">
                <a16:creationId xmlns:a16="http://schemas.microsoft.com/office/drawing/2014/main" id="{8B51968E-4562-BB3C-944A-7BCBCECA8B03}"/>
              </a:ext>
            </a:extLst>
          </p:cNvPr>
          <p:cNvSpPr txBox="1"/>
          <p:nvPr/>
        </p:nvSpPr>
        <p:spPr>
          <a:xfrm>
            <a:off x="7534540" y="5140729"/>
            <a:ext cx="3122762" cy="646331"/>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Reinforcement details of beam A1-B1-C1</a:t>
            </a: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4DFAE377-CDDC-5E9D-76E5-5F43B99D3EB9}"/>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Effect>
                      <a14:saturation sat="8000"/>
                    </a14:imgEffect>
                  </a14:imgLayer>
                </a14:imgProps>
              </a:ext>
            </a:extLst>
          </a:blip>
          <a:stretch>
            <a:fillRect/>
          </a:stretch>
        </p:blipFill>
        <p:spPr>
          <a:xfrm>
            <a:off x="6631460" y="2410444"/>
            <a:ext cx="5146721" cy="2340864"/>
          </a:xfrm>
          <a:prstGeom prst="rect">
            <a:avLst/>
          </a:prstGeom>
        </p:spPr>
      </p:pic>
    </p:spTree>
    <p:extLst>
      <p:ext uri="{BB962C8B-B14F-4D97-AF65-F5344CB8AC3E}">
        <p14:creationId xmlns:p14="http://schemas.microsoft.com/office/powerpoint/2010/main" val="12346438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8D53D4-F3FE-E349-14D7-65175D2F32A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3324E4D-F4ED-7632-9EF8-1D5F09547C5F}"/>
              </a:ext>
            </a:extLst>
          </p:cNvPr>
          <p:cNvSpPr txBox="1"/>
          <p:nvPr/>
        </p:nvSpPr>
        <p:spPr>
          <a:xfrm>
            <a:off x="1544229" y="469220"/>
            <a:ext cx="8870370"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COLUMN DESIGN (UNI-AXIAL &amp; BI-AXIAL)</a:t>
            </a:r>
          </a:p>
        </p:txBody>
      </p:sp>
      <p:sp>
        <p:nvSpPr>
          <p:cNvPr id="6" name="TextBox 5">
            <a:extLst>
              <a:ext uri="{FF2B5EF4-FFF2-40B4-BE49-F238E27FC236}">
                <a16:creationId xmlns:a16="http://schemas.microsoft.com/office/drawing/2014/main" id="{C145EF87-948A-D92B-5556-465C58276509}"/>
              </a:ext>
            </a:extLst>
          </p:cNvPr>
          <p:cNvSpPr txBox="1"/>
          <p:nvPr/>
        </p:nvSpPr>
        <p:spPr>
          <a:xfrm>
            <a:off x="264816" y="1662892"/>
            <a:ext cx="5897859" cy="4524315"/>
          </a:xfrm>
          <a:prstGeom prst="rect">
            <a:avLst/>
          </a:prstGeom>
          <a:noFill/>
        </p:spPr>
        <p:txBody>
          <a:bodyPr wrap="square" anchor="t">
            <a:spAutoFit/>
          </a:bodyPr>
          <a:lstStyle/>
          <a:p>
            <a:pPr marL="285750" lvl="0" indent="-285750" algn="just" eaLnBrk="0" fontAlgn="base" hangingPunct="0">
              <a:spcBef>
                <a:spcPct val="0"/>
              </a:spcBef>
              <a:spcAft>
                <a:spcPct val="0"/>
              </a:spcAft>
              <a:buFont typeface="Arial" panose="020B0604020202020204" pitchFamily="34" charset="0"/>
              <a:buChar char="•"/>
            </a:pPr>
            <a:r>
              <a:rPr lang="en-US" altLang="en-US" b="1" dirty="0">
                <a:latin typeface="Times New Roman" panose="02020603050405020304" pitchFamily="18" charset="0"/>
                <a:cs typeface="Times New Roman" panose="02020603050405020304" pitchFamily="18" charset="0"/>
              </a:rPr>
              <a:t>Classification:</a:t>
            </a:r>
            <a:r>
              <a:rPr lang="en-US" altLang="en-US" dirty="0">
                <a:latin typeface="Times New Roman" panose="02020603050405020304" pitchFamily="18" charset="0"/>
                <a:cs typeface="Times New Roman" panose="02020603050405020304" pitchFamily="18" charset="0"/>
              </a:rPr>
              <a:t> Designed exclusively as Short Columns based on the effective length to lateral dimension ratio.</a:t>
            </a:r>
          </a:p>
          <a:p>
            <a:pPr marL="285750" lvl="0" indent="-285750" algn="just" eaLnBrk="0" fontAlgn="base" hangingPunct="0">
              <a:spcBef>
                <a:spcPct val="0"/>
              </a:spcBef>
              <a:spcAft>
                <a:spcPct val="0"/>
              </a:spcAft>
              <a:buFont typeface="Arial" panose="020B0604020202020204" pitchFamily="34" charset="0"/>
              <a:buChar char="•"/>
            </a:pPr>
            <a:r>
              <a:rPr lang="en-US" altLang="en-US" b="1" dirty="0">
                <a:latin typeface="Times New Roman" panose="02020603050405020304" pitchFamily="18" charset="0"/>
                <a:cs typeface="Times New Roman" panose="02020603050405020304" pitchFamily="18" charset="0"/>
              </a:rPr>
              <a:t>Load Transfer:</a:t>
            </a:r>
            <a:r>
              <a:rPr lang="en-US" altLang="en-US" dirty="0">
                <a:latin typeface="Times New Roman" panose="02020603050405020304" pitchFamily="18" charset="0"/>
                <a:cs typeface="Times New Roman" panose="02020603050405020304" pitchFamily="18" charset="0"/>
              </a:rPr>
              <a:t> Factored axial loads (P</a:t>
            </a:r>
            <a:r>
              <a:rPr lang="en-US" altLang="en-US" baseline="-25000" dirty="0">
                <a:latin typeface="Times New Roman" panose="02020603050405020304" pitchFamily="18" charset="0"/>
                <a:cs typeface="Times New Roman" panose="02020603050405020304" pitchFamily="18" charset="0"/>
              </a:rPr>
              <a:t>u</a:t>
            </a:r>
            <a:r>
              <a:rPr lang="en-US" altLang="en-US" dirty="0">
                <a:latin typeface="Times New Roman" panose="02020603050405020304" pitchFamily="18" charset="0"/>
                <a:cs typeface="Times New Roman" panose="02020603050405020304" pitchFamily="18" charset="0"/>
              </a:rPr>
              <a:t>) and bending moments (M</a:t>
            </a:r>
            <a:r>
              <a:rPr lang="en-US" altLang="en-US" baseline="-25000" dirty="0">
                <a:latin typeface="Times New Roman" panose="02020603050405020304" pitchFamily="18" charset="0"/>
                <a:cs typeface="Times New Roman" panose="02020603050405020304" pitchFamily="18" charset="0"/>
              </a:rPr>
              <a:t>u</a:t>
            </a:r>
            <a:r>
              <a:rPr lang="en-US" altLang="en-US" dirty="0">
                <a:latin typeface="Times New Roman" panose="02020603050405020304" pitchFamily="18" charset="0"/>
                <a:cs typeface="Times New Roman" panose="02020603050405020304" pitchFamily="18" charset="0"/>
              </a:rPr>
              <a:t>) accurately derived from the continuous beam reactions.</a:t>
            </a:r>
          </a:p>
          <a:p>
            <a:pPr marL="285750" lvl="0" indent="-285750" algn="just" eaLnBrk="0" fontAlgn="base" hangingPunct="0">
              <a:spcBef>
                <a:spcPct val="0"/>
              </a:spcBef>
              <a:spcAft>
                <a:spcPct val="0"/>
              </a:spcAft>
              <a:buFont typeface="Arial" panose="020B0604020202020204" pitchFamily="34" charset="0"/>
              <a:buChar char="•"/>
            </a:pPr>
            <a:r>
              <a:rPr lang="en-US" altLang="en-US" b="1" dirty="0">
                <a:latin typeface="Times New Roman" panose="02020603050405020304" pitchFamily="18" charset="0"/>
                <a:cs typeface="Times New Roman" panose="02020603050405020304" pitchFamily="18" charset="0"/>
              </a:rPr>
              <a:t>Design Variations:</a:t>
            </a:r>
            <a:r>
              <a:rPr lang="en-US" altLang="en-US" dirty="0">
                <a:latin typeface="Times New Roman" panose="02020603050405020304" pitchFamily="18" charset="0"/>
                <a:cs typeface="Times New Roman" panose="02020603050405020304" pitchFamily="18" charset="0"/>
              </a:rPr>
              <a:t>  </a:t>
            </a:r>
            <a:r>
              <a:rPr lang="en-US" altLang="en-US" b="1" dirty="0">
                <a:latin typeface="Times New Roman" panose="02020603050405020304" pitchFamily="18" charset="0"/>
                <a:cs typeface="Times New Roman" panose="02020603050405020304" pitchFamily="18" charset="0"/>
              </a:rPr>
              <a:t>Column B1 (Edge):</a:t>
            </a:r>
            <a:r>
              <a:rPr lang="en-US" altLang="en-US" dirty="0">
                <a:latin typeface="Times New Roman" panose="02020603050405020304" pitchFamily="18" charset="0"/>
                <a:cs typeface="Times New Roman" panose="02020603050405020304" pitchFamily="18" charset="0"/>
              </a:rPr>
              <a:t> Designed for </a:t>
            </a:r>
            <a:r>
              <a:rPr lang="en-US" altLang="en-US" b="1" dirty="0">
                <a:latin typeface="Times New Roman" panose="02020603050405020304" pitchFamily="18" charset="0"/>
                <a:cs typeface="Times New Roman" panose="02020603050405020304" pitchFamily="18" charset="0"/>
              </a:rPr>
              <a:t>Uni-axial</a:t>
            </a:r>
            <a:r>
              <a:rPr lang="en-US" altLang="en-US" dirty="0">
                <a:latin typeface="Times New Roman" panose="02020603050405020304" pitchFamily="18" charset="0"/>
                <a:cs typeface="Times New Roman" panose="02020603050405020304" pitchFamily="18" charset="0"/>
              </a:rPr>
              <a:t> bending.</a:t>
            </a:r>
          </a:p>
          <a:p>
            <a:pPr marL="285750" lvl="0" indent="-285750" algn="just" eaLnBrk="0" fontAlgn="base" hangingPunct="0">
              <a:spcBef>
                <a:spcPct val="0"/>
              </a:spcBef>
              <a:spcAft>
                <a:spcPct val="0"/>
              </a:spcAft>
              <a:buFont typeface="Arial" panose="020B0604020202020204" pitchFamily="34" charset="0"/>
              <a:buChar char="•"/>
            </a:pPr>
            <a:r>
              <a:rPr lang="en-US" altLang="en-US" b="1" dirty="0">
                <a:latin typeface="Times New Roman" panose="02020603050405020304" pitchFamily="18" charset="0"/>
                <a:cs typeface="Times New Roman" panose="02020603050405020304" pitchFamily="18" charset="0"/>
              </a:rPr>
              <a:t>Column A1 (Corner):</a:t>
            </a:r>
            <a:r>
              <a:rPr lang="en-US" altLang="en-US" dirty="0">
                <a:latin typeface="Times New Roman" panose="02020603050405020304" pitchFamily="18" charset="0"/>
                <a:cs typeface="Times New Roman" panose="02020603050405020304" pitchFamily="18" charset="0"/>
              </a:rPr>
              <a:t> Designed for </a:t>
            </a:r>
            <a:r>
              <a:rPr lang="en-US" altLang="en-US" b="1" dirty="0">
                <a:latin typeface="Times New Roman" panose="02020603050405020304" pitchFamily="18" charset="0"/>
                <a:cs typeface="Times New Roman" panose="02020603050405020304" pitchFamily="18" charset="0"/>
              </a:rPr>
              <a:t>Bi-axial</a:t>
            </a:r>
            <a:r>
              <a:rPr lang="en-US" altLang="en-US" dirty="0">
                <a:latin typeface="Times New Roman" panose="02020603050405020304" pitchFamily="18" charset="0"/>
                <a:cs typeface="Times New Roman" panose="02020603050405020304" pitchFamily="18" charset="0"/>
              </a:rPr>
              <a:t> bending due to moments acting on both axes.</a:t>
            </a:r>
          </a:p>
          <a:p>
            <a:pPr marL="285750" lvl="0" indent="-285750" algn="just" eaLnBrk="0" fontAlgn="base" hangingPunct="0">
              <a:spcBef>
                <a:spcPct val="0"/>
              </a:spcBef>
              <a:spcAft>
                <a:spcPct val="0"/>
              </a:spcAft>
              <a:buFont typeface="Arial" panose="020B0604020202020204" pitchFamily="34" charset="0"/>
              <a:buChar char="•"/>
            </a:pPr>
            <a:r>
              <a:rPr lang="en-US" altLang="en-US" b="1" dirty="0">
                <a:latin typeface="Times New Roman" panose="02020603050405020304" pitchFamily="18" charset="0"/>
                <a:cs typeface="Times New Roman" panose="02020603050405020304" pitchFamily="18" charset="0"/>
              </a:rPr>
              <a:t>Reinforcement Strategy:</a:t>
            </a:r>
            <a:r>
              <a:rPr lang="en-US" altLang="en-US" dirty="0">
                <a:latin typeface="Times New Roman" panose="02020603050405020304" pitchFamily="18" charset="0"/>
                <a:cs typeface="Times New Roman" panose="02020603050405020304" pitchFamily="18" charset="0"/>
              </a:rPr>
              <a:t> Utilized SP-16 interaction charts using non-dimensional parameters (P</a:t>
            </a:r>
            <a:r>
              <a:rPr lang="en-US" altLang="en-US" baseline="-25000" dirty="0">
                <a:latin typeface="Times New Roman" panose="02020603050405020304" pitchFamily="18" charset="0"/>
                <a:cs typeface="Times New Roman" panose="02020603050405020304" pitchFamily="18" charset="0"/>
              </a:rPr>
              <a:t>u </a:t>
            </a:r>
            <a:r>
              <a:rPr lang="en-US" altLang="en-US" dirty="0">
                <a:latin typeface="Times New Roman" panose="02020603050405020304" pitchFamily="18" charset="0"/>
                <a:cs typeface="Times New Roman" panose="02020603050405020304" pitchFamily="18" charset="0"/>
              </a:rPr>
              <a:t>/ f</a:t>
            </a:r>
            <a:r>
              <a:rPr lang="en-US" altLang="en-US" baseline="-25000" dirty="0">
                <a:latin typeface="Times New Roman" panose="02020603050405020304" pitchFamily="18" charset="0"/>
                <a:cs typeface="Times New Roman" panose="02020603050405020304" pitchFamily="18" charset="0"/>
              </a:rPr>
              <a:t>ck</a:t>
            </a:r>
            <a:r>
              <a:rPr lang="en-US" altLang="en-US" dirty="0">
                <a:latin typeface="Times New Roman" panose="02020603050405020304" pitchFamily="18" charset="0"/>
                <a:cs typeface="Times New Roman" panose="02020603050405020304" pitchFamily="18" charset="0"/>
              </a:rPr>
              <a:t> b D and M</a:t>
            </a:r>
            <a:r>
              <a:rPr lang="en-US" altLang="en-US" baseline="-25000" dirty="0">
                <a:latin typeface="Times New Roman" panose="02020603050405020304" pitchFamily="18" charset="0"/>
                <a:cs typeface="Times New Roman" panose="02020603050405020304" pitchFamily="18" charset="0"/>
              </a:rPr>
              <a:t>u</a:t>
            </a:r>
            <a:r>
              <a:rPr lang="en-US" altLang="en-US" dirty="0">
                <a:latin typeface="Times New Roman" panose="02020603050405020304" pitchFamily="18" charset="0"/>
                <a:cs typeface="Times New Roman" panose="02020603050405020304" pitchFamily="18" charset="0"/>
              </a:rPr>
              <a:t> / f</a:t>
            </a:r>
            <a:r>
              <a:rPr lang="en-US" altLang="en-US" baseline="-25000" dirty="0">
                <a:latin typeface="Times New Roman" panose="02020603050405020304" pitchFamily="18" charset="0"/>
                <a:cs typeface="Times New Roman" panose="02020603050405020304" pitchFamily="18" charset="0"/>
              </a:rPr>
              <a:t>ck </a:t>
            </a:r>
            <a:r>
              <a:rPr lang="en-US" altLang="en-US" dirty="0">
                <a:latin typeface="Times New Roman" panose="02020603050405020304" pitchFamily="18" charset="0"/>
                <a:cs typeface="Times New Roman" panose="02020603050405020304" pitchFamily="18" charset="0"/>
              </a:rPr>
              <a:t>b D</a:t>
            </a:r>
            <a:r>
              <a:rPr lang="en-US" altLang="en-US" baseline="30000" dirty="0">
                <a:latin typeface="Times New Roman" panose="02020603050405020304" pitchFamily="18" charset="0"/>
                <a:cs typeface="Times New Roman" panose="02020603050405020304" pitchFamily="18" charset="0"/>
              </a:rPr>
              <a:t>2</a:t>
            </a:r>
            <a:r>
              <a:rPr lang="en-US" altLang="en-US" dirty="0">
                <a:latin typeface="Times New Roman" panose="02020603050405020304" pitchFamily="18" charset="0"/>
                <a:cs typeface="Times New Roman" panose="02020603050405020304" pitchFamily="18" charset="0"/>
              </a:rPr>
              <a:t>) to determine the optimum steel percentage (p).</a:t>
            </a:r>
          </a:p>
          <a:p>
            <a:pPr marL="285750" lvl="0" indent="-285750" algn="just" eaLnBrk="0" fontAlgn="base" hangingPunct="0">
              <a:spcBef>
                <a:spcPct val="0"/>
              </a:spcBef>
              <a:spcAft>
                <a:spcPct val="0"/>
              </a:spcAft>
              <a:buFont typeface="Arial" panose="020B0604020202020204" pitchFamily="34" charset="0"/>
              <a:buChar char="•"/>
            </a:pPr>
            <a:r>
              <a:rPr lang="en-US" altLang="en-US" b="1" dirty="0">
                <a:latin typeface="Times New Roman" panose="02020603050405020304" pitchFamily="18" charset="0"/>
                <a:cs typeface="Times New Roman" panose="02020603050405020304" pitchFamily="18" charset="0"/>
              </a:rPr>
              <a:t>Safety Verification:</a:t>
            </a:r>
            <a:r>
              <a:rPr lang="en-US" altLang="en-US" dirty="0">
                <a:latin typeface="Times New Roman" panose="02020603050405020304" pitchFamily="18" charset="0"/>
                <a:cs typeface="Times New Roman" panose="02020603050405020304" pitchFamily="18" charset="0"/>
              </a:rPr>
              <a:t> Safety of bi-axially loaded columns successfully verified using Bresler’s interaction equation.</a:t>
            </a:r>
          </a:p>
          <a:p>
            <a:pPr marL="285750" lvl="0" indent="-285750" algn="just" eaLnBrk="0" fontAlgn="base" hangingPunct="0">
              <a:spcBef>
                <a:spcPct val="0"/>
              </a:spcBef>
              <a:spcAft>
                <a:spcPct val="0"/>
              </a:spcAft>
              <a:buFont typeface="Arial" panose="020B0604020202020204" pitchFamily="34" charset="0"/>
              <a:buChar char="•"/>
            </a:pPr>
            <a:endParaRPr lang="en-US" altLang="en-US"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14AB7963-3247-EB5C-B4C6-2204470F36C0}"/>
              </a:ext>
            </a:extLst>
          </p:cNvPr>
          <p:cNvSpPr txBox="1"/>
          <p:nvPr/>
        </p:nvSpPr>
        <p:spPr>
          <a:xfrm>
            <a:off x="7534540" y="5140729"/>
            <a:ext cx="3122762" cy="646331"/>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Classification of column based on position and loading</a:t>
            </a:r>
            <a:endParaRPr lang="en-IN"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244D09B4-EAEC-A628-D392-360A19E9F239}"/>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5300"/>
                    </a14:imgEffect>
                    <a14:imgEffect>
                      <a14:saturation sat="0"/>
                    </a14:imgEffect>
                  </a14:imgLayer>
                </a14:imgProps>
              </a:ext>
            </a:extLst>
          </a:blip>
          <a:stretch>
            <a:fillRect/>
          </a:stretch>
        </p:blipFill>
        <p:spPr>
          <a:xfrm>
            <a:off x="7390694" y="1662892"/>
            <a:ext cx="3410454" cy="3380687"/>
          </a:xfrm>
          <a:prstGeom prst="rect">
            <a:avLst/>
          </a:prstGeom>
        </p:spPr>
      </p:pic>
    </p:spTree>
    <p:extLst>
      <p:ext uri="{BB962C8B-B14F-4D97-AF65-F5344CB8AC3E}">
        <p14:creationId xmlns:p14="http://schemas.microsoft.com/office/powerpoint/2010/main" val="24785844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4DF2D7-DAFA-A971-F0D9-F4FA544D792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24F8DE3-6A64-E628-951C-D5DF46E690E5}"/>
              </a:ext>
            </a:extLst>
          </p:cNvPr>
          <p:cNvSpPr txBox="1"/>
          <p:nvPr/>
        </p:nvSpPr>
        <p:spPr>
          <a:xfrm>
            <a:off x="4220164" y="486165"/>
            <a:ext cx="3885021"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FOOTING DESIGN</a:t>
            </a:r>
          </a:p>
        </p:txBody>
      </p:sp>
      <p:sp>
        <p:nvSpPr>
          <p:cNvPr id="6" name="TextBox 5">
            <a:extLst>
              <a:ext uri="{FF2B5EF4-FFF2-40B4-BE49-F238E27FC236}">
                <a16:creationId xmlns:a16="http://schemas.microsoft.com/office/drawing/2014/main" id="{DE5FE092-E03A-DD14-E3DC-C904B7CCA52A}"/>
              </a:ext>
            </a:extLst>
          </p:cNvPr>
          <p:cNvSpPr txBox="1"/>
          <p:nvPr/>
        </p:nvSpPr>
        <p:spPr>
          <a:xfrm>
            <a:off x="502941" y="1662892"/>
            <a:ext cx="5897859" cy="3970318"/>
          </a:xfrm>
          <a:prstGeom prst="rect">
            <a:avLst/>
          </a:prstGeom>
          <a:noFill/>
        </p:spPr>
        <p:txBody>
          <a:bodyPr wrap="square" anchor="t">
            <a:spAutoFit/>
          </a:bodyPr>
          <a:lstStyle/>
          <a:p>
            <a:pPr marL="285750" lvl="0" indent="-285750" algn="just" eaLnBrk="0" fontAlgn="base" hangingPunct="0">
              <a:spcBef>
                <a:spcPct val="0"/>
              </a:spcBef>
              <a:spcAft>
                <a:spcPct val="0"/>
              </a:spcAft>
              <a:buFont typeface="Arial" panose="020B0604020202020204" pitchFamily="34" charset="0"/>
              <a:buChar char="•"/>
            </a:pPr>
            <a:r>
              <a:rPr lang="en-US" altLang="en-US" b="1" dirty="0">
                <a:latin typeface="Times New Roman" panose="02020603050405020304" pitchFamily="18" charset="0"/>
                <a:cs typeface="Times New Roman" panose="02020603050405020304" pitchFamily="18" charset="0"/>
              </a:rPr>
              <a:t>Foundation Type:</a:t>
            </a:r>
            <a:r>
              <a:rPr lang="en-US" altLang="en-US" dirty="0">
                <a:latin typeface="Times New Roman" panose="02020603050405020304" pitchFamily="18" charset="0"/>
                <a:cs typeface="Times New Roman" panose="02020603050405020304" pitchFamily="18" charset="0"/>
              </a:rPr>
              <a:t> Isolated Pad Footings selected for individual columns to suit the G+0 load profile.</a:t>
            </a:r>
          </a:p>
          <a:p>
            <a:pPr marL="285750" lvl="0" indent="-285750" algn="just" eaLnBrk="0" fontAlgn="base" hangingPunct="0">
              <a:spcBef>
                <a:spcPct val="0"/>
              </a:spcBef>
              <a:spcAft>
                <a:spcPct val="0"/>
              </a:spcAft>
              <a:buFont typeface="Arial" panose="020B0604020202020204" pitchFamily="34" charset="0"/>
              <a:buChar char="•"/>
            </a:pPr>
            <a:r>
              <a:rPr lang="en-US" altLang="en-US" b="1" dirty="0">
                <a:latin typeface="Times New Roman" panose="02020603050405020304" pitchFamily="18" charset="0"/>
                <a:cs typeface="Times New Roman" panose="02020603050405020304" pitchFamily="18" charset="0"/>
              </a:rPr>
              <a:t>Soil Parameter:</a:t>
            </a:r>
            <a:r>
              <a:rPr lang="en-US" altLang="en-US" dirty="0">
                <a:latin typeface="Times New Roman" panose="02020603050405020304" pitchFamily="18" charset="0"/>
                <a:cs typeface="Times New Roman" panose="02020603050405020304" pitchFamily="18" charset="0"/>
              </a:rPr>
              <a:t> Safe Bearing Capacity (SBC) taken as </a:t>
            </a:r>
            <a:r>
              <a:rPr lang="en-US" altLang="en-US" b="1" dirty="0">
                <a:latin typeface="Times New Roman" panose="02020603050405020304" pitchFamily="18" charset="0"/>
                <a:cs typeface="Times New Roman" panose="02020603050405020304" pitchFamily="18" charset="0"/>
              </a:rPr>
              <a:t>200 KN/m²</a:t>
            </a:r>
            <a:r>
              <a:rPr lang="en-US" altLang="en-US" dirty="0">
                <a:latin typeface="Times New Roman" panose="02020603050405020304" pitchFamily="18" charset="0"/>
                <a:cs typeface="Times New Roman" panose="02020603050405020304" pitchFamily="18" charset="0"/>
              </a:rPr>
              <a:t> based on typical regional soil strata.</a:t>
            </a:r>
          </a:p>
          <a:p>
            <a:pPr marL="285750" lvl="0" indent="-285750" algn="just" eaLnBrk="0" fontAlgn="base" hangingPunct="0">
              <a:spcBef>
                <a:spcPct val="0"/>
              </a:spcBef>
              <a:spcAft>
                <a:spcPct val="0"/>
              </a:spcAft>
              <a:buFont typeface="Arial" panose="020B0604020202020204" pitchFamily="34" charset="0"/>
              <a:buChar char="•"/>
            </a:pPr>
            <a:r>
              <a:rPr lang="en-US" altLang="en-US" b="1" dirty="0">
                <a:latin typeface="Times New Roman" panose="02020603050405020304" pitchFamily="18" charset="0"/>
                <a:cs typeface="Times New Roman" panose="02020603050405020304" pitchFamily="18" charset="0"/>
              </a:rPr>
              <a:t>Area Calculation:</a:t>
            </a:r>
            <a:r>
              <a:rPr lang="en-US" altLang="en-US" dirty="0">
                <a:latin typeface="Times New Roman" panose="02020603050405020304" pitchFamily="18" charset="0"/>
                <a:cs typeface="Times New Roman" panose="02020603050405020304" pitchFamily="18" charset="0"/>
              </a:rPr>
              <a:t> Base area determined using the total working load on the column plus a 10% allowance for the footing's self-weight.</a:t>
            </a:r>
          </a:p>
          <a:p>
            <a:pPr marL="285750" lvl="0" indent="-285750" algn="just" eaLnBrk="0" fontAlgn="base" hangingPunct="0">
              <a:spcBef>
                <a:spcPct val="0"/>
              </a:spcBef>
              <a:spcAft>
                <a:spcPct val="0"/>
              </a:spcAft>
              <a:buFont typeface="Arial" panose="020B0604020202020204" pitchFamily="34" charset="0"/>
              <a:buChar char="•"/>
            </a:pPr>
            <a:r>
              <a:rPr lang="en-US" altLang="en-US" b="1" dirty="0">
                <a:latin typeface="Times New Roman" panose="02020603050405020304" pitchFamily="18" charset="0"/>
                <a:cs typeface="Times New Roman" panose="02020603050405020304" pitchFamily="18" charset="0"/>
              </a:rPr>
              <a:t>Critical Depth Criteria:</a:t>
            </a:r>
            <a:r>
              <a:rPr lang="en-US" altLang="en-US" dirty="0">
                <a:latin typeface="Times New Roman" panose="02020603050405020304" pitchFamily="18" charset="0"/>
                <a:cs typeface="Times New Roman" panose="02020603050405020304" pitchFamily="18" charset="0"/>
              </a:rPr>
              <a:t> The effective depth was strictly governed and checked against three criteria:</a:t>
            </a:r>
          </a:p>
          <a:p>
            <a:pPr marL="285750" lvl="0" indent="-285750" algn="just"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Bending Moment</a:t>
            </a:r>
          </a:p>
          <a:p>
            <a:pPr marL="285750" lvl="0" indent="-285750" algn="just"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One-Way Shear</a:t>
            </a:r>
          </a:p>
          <a:p>
            <a:pPr marL="285750" lvl="0" indent="-285750" algn="just"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Two-Way (Punching) Shear</a:t>
            </a:r>
          </a:p>
          <a:p>
            <a:pPr marL="285750" lvl="0" indent="-285750" algn="just" eaLnBrk="0" fontAlgn="base" hangingPunct="0">
              <a:spcBef>
                <a:spcPct val="0"/>
              </a:spcBef>
              <a:spcAft>
                <a:spcPct val="0"/>
              </a:spcAft>
              <a:buFont typeface="Arial" panose="020B0604020202020204" pitchFamily="34" charset="0"/>
              <a:buChar char="•"/>
            </a:pPr>
            <a:r>
              <a:rPr lang="en-US" altLang="en-US" b="1" dirty="0">
                <a:latin typeface="Times New Roman" panose="02020603050405020304" pitchFamily="18" charset="0"/>
                <a:cs typeface="Times New Roman" panose="02020603050405020304" pitchFamily="18" charset="0"/>
              </a:rPr>
              <a:t>Reinforcement:</a:t>
            </a:r>
            <a:r>
              <a:rPr lang="en-US" altLang="en-US" dirty="0">
                <a:latin typeface="Times New Roman" panose="02020603050405020304" pitchFamily="18" charset="0"/>
                <a:cs typeface="Times New Roman" panose="02020603050405020304" pitchFamily="18" charset="0"/>
              </a:rPr>
              <a:t> Designed using the factored net upward soil pressure (</a:t>
            </a:r>
            <a:r>
              <a:rPr lang="en-US" altLang="en-US" dirty="0" err="1">
                <a:latin typeface="Times New Roman" panose="02020603050405020304" pitchFamily="18" charset="0"/>
                <a:cs typeface="Times New Roman" panose="02020603050405020304" pitchFamily="18" charset="0"/>
              </a:rPr>
              <a:t>q</a:t>
            </a:r>
            <a:r>
              <a:rPr lang="en-US" altLang="en-US" baseline="-25000" dirty="0" err="1">
                <a:latin typeface="Times New Roman" panose="02020603050405020304" pitchFamily="18" charset="0"/>
                <a:cs typeface="Times New Roman" panose="02020603050405020304" pitchFamily="18" charset="0"/>
              </a:rPr>
              <a:t>u</a:t>
            </a:r>
            <a:r>
              <a:rPr lang="en-US" altLang="en-US" dirty="0">
                <a:latin typeface="Times New Roman" panose="02020603050405020304" pitchFamily="18" charset="0"/>
                <a:cs typeface="Times New Roman" panose="02020603050405020304" pitchFamily="18" charset="0"/>
              </a:rPr>
              <a:t>).</a:t>
            </a:r>
          </a:p>
        </p:txBody>
      </p:sp>
      <p:sp>
        <p:nvSpPr>
          <p:cNvPr id="10" name="TextBox 9">
            <a:extLst>
              <a:ext uri="{FF2B5EF4-FFF2-40B4-BE49-F238E27FC236}">
                <a16:creationId xmlns:a16="http://schemas.microsoft.com/office/drawing/2014/main" id="{DF25D1A1-FB61-5FEB-6B41-6CB0A2F4C43E}"/>
              </a:ext>
            </a:extLst>
          </p:cNvPr>
          <p:cNvSpPr txBox="1"/>
          <p:nvPr/>
        </p:nvSpPr>
        <p:spPr>
          <a:xfrm>
            <a:off x="7900349" y="4987891"/>
            <a:ext cx="3122762" cy="369332"/>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Footing reinforcement</a:t>
            </a:r>
          </a:p>
        </p:txBody>
      </p:sp>
      <p:pic>
        <p:nvPicPr>
          <p:cNvPr id="5" name="Picture 4">
            <a:extLst>
              <a:ext uri="{FF2B5EF4-FFF2-40B4-BE49-F238E27FC236}">
                <a16:creationId xmlns:a16="http://schemas.microsoft.com/office/drawing/2014/main" id="{7F6A4CA6-C5A2-7469-3BCD-80D33FE849EC}"/>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5300"/>
                    </a14:imgEffect>
                    <a14:imgEffect>
                      <a14:saturation sat="0"/>
                    </a14:imgEffect>
                  </a14:imgLayer>
                </a14:imgProps>
              </a:ext>
            </a:extLst>
          </a:blip>
          <a:srcRect b="10687"/>
          <a:stretch>
            <a:fillRect/>
          </a:stretch>
        </p:blipFill>
        <p:spPr>
          <a:xfrm>
            <a:off x="7534540" y="1662892"/>
            <a:ext cx="3854381" cy="3102379"/>
          </a:xfrm>
          <a:prstGeom prst="rect">
            <a:avLst/>
          </a:prstGeom>
        </p:spPr>
      </p:pic>
    </p:spTree>
    <p:extLst>
      <p:ext uri="{BB962C8B-B14F-4D97-AF65-F5344CB8AC3E}">
        <p14:creationId xmlns:p14="http://schemas.microsoft.com/office/powerpoint/2010/main" val="1855741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62293E-0030-B923-1BC5-69F73289A06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15F8CC8-4D8B-05C2-4D43-15F58DB71478}"/>
              </a:ext>
            </a:extLst>
          </p:cNvPr>
          <p:cNvSpPr txBox="1"/>
          <p:nvPr/>
        </p:nvSpPr>
        <p:spPr>
          <a:xfrm>
            <a:off x="4262584" y="562365"/>
            <a:ext cx="4276431"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STAIRCASE DESIGN</a:t>
            </a:r>
          </a:p>
        </p:txBody>
      </p:sp>
      <p:sp>
        <p:nvSpPr>
          <p:cNvPr id="6" name="TextBox 5">
            <a:extLst>
              <a:ext uri="{FF2B5EF4-FFF2-40B4-BE49-F238E27FC236}">
                <a16:creationId xmlns:a16="http://schemas.microsoft.com/office/drawing/2014/main" id="{2B71DBF2-3807-38A5-ACF4-1D01FD3156E0}"/>
              </a:ext>
            </a:extLst>
          </p:cNvPr>
          <p:cNvSpPr txBox="1"/>
          <p:nvPr/>
        </p:nvSpPr>
        <p:spPr>
          <a:xfrm>
            <a:off x="502940" y="1706534"/>
            <a:ext cx="5897859" cy="4247317"/>
          </a:xfrm>
          <a:prstGeom prst="rect">
            <a:avLst/>
          </a:prstGeom>
          <a:noFill/>
        </p:spPr>
        <p:txBody>
          <a:bodyPr wrap="square" anchor="t">
            <a:spAutoFit/>
          </a:bodyPr>
          <a:lstStyle/>
          <a:p>
            <a:pPr marL="285750" lvl="0" indent="-285750" algn="just" eaLnBrk="0" fontAlgn="base" hangingPunct="0">
              <a:spcBef>
                <a:spcPct val="0"/>
              </a:spcBef>
              <a:spcAft>
                <a:spcPct val="0"/>
              </a:spcAft>
              <a:buFont typeface="Arial" panose="020B0604020202020204" pitchFamily="34" charset="0"/>
              <a:buChar char="•"/>
            </a:pPr>
            <a:r>
              <a:rPr lang="en-US" altLang="en-US" b="1" dirty="0">
                <a:latin typeface="Times New Roman" panose="02020603050405020304" pitchFamily="18" charset="0"/>
                <a:cs typeface="Times New Roman" panose="02020603050405020304" pitchFamily="18" charset="0"/>
              </a:rPr>
              <a:t>Classification:</a:t>
            </a:r>
            <a:r>
              <a:rPr lang="en-US" altLang="en-US" dirty="0">
                <a:latin typeface="Times New Roman" panose="02020603050405020304" pitchFamily="18" charset="0"/>
                <a:cs typeface="Times New Roman" panose="02020603050405020304" pitchFamily="18" charset="0"/>
              </a:rPr>
              <a:t> Designed as a Dog-Legged Staircase, spanning longitudinally between supporting beams.</a:t>
            </a:r>
          </a:p>
          <a:p>
            <a:pPr marL="285750" lvl="0" indent="-285750" algn="just" eaLnBrk="0" fontAlgn="base" hangingPunct="0">
              <a:spcBef>
                <a:spcPct val="0"/>
              </a:spcBef>
              <a:spcAft>
                <a:spcPct val="0"/>
              </a:spcAft>
              <a:buFont typeface="Arial" panose="020B0604020202020204" pitchFamily="34" charset="0"/>
              <a:buChar char="•"/>
            </a:pPr>
            <a:r>
              <a:rPr lang="en-US" altLang="en-US" b="1" dirty="0">
                <a:latin typeface="Times New Roman" panose="02020603050405020304" pitchFamily="18" charset="0"/>
                <a:cs typeface="Times New Roman" panose="02020603050405020304" pitchFamily="18" charset="0"/>
              </a:rPr>
              <a:t>Proportioning:</a:t>
            </a:r>
            <a:r>
              <a:rPr lang="en-US" altLang="en-US" dirty="0">
                <a:latin typeface="Times New Roman" panose="02020603050405020304" pitchFamily="18" charset="0"/>
                <a:cs typeface="Times New Roman" panose="02020603050405020304" pitchFamily="18" charset="0"/>
              </a:rPr>
              <a:t> Tread (T) and Riser (R) dimensions selected for optimal residential comfort and strictly within standard NBC guidelines.</a:t>
            </a:r>
          </a:p>
          <a:p>
            <a:pPr marL="285750" lvl="0" indent="-285750" algn="just" eaLnBrk="0" fontAlgn="base" hangingPunct="0">
              <a:spcBef>
                <a:spcPct val="0"/>
              </a:spcBef>
              <a:spcAft>
                <a:spcPct val="0"/>
              </a:spcAft>
              <a:buFont typeface="Arial" panose="020B0604020202020204" pitchFamily="34" charset="0"/>
              <a:buChar char="•"/>
            </a:pPr>
            <a:r>
              <a:rPr lang="en-US" altLang="en-US" b="1" dirty="0">
                <a:latin typeface="Times New Roman" panose="02020603050405020304" pitchFamily="18" charset="0"/>
                <a:cs typeface="Times New Roman" panose="02020603050405020304" pitchFamily="18" charset="0"/>
              </a:rPr>
              <a:t>Loading Analysis:</a:t>
            </a:r>
            <a:r>
              <a:rPr lang="en-US" altLang="en-US" dirty="0">
                <a:latin typeface="Times New Roman" panose="02020603050405020304" pitchFamily="18" charset="0"/>
                <a:cs typeface="Times New Roman" panose="02020603050405020304" pitchFamily="18" charset="0"/>
              </a:rPr>
              <a:t> Loads calculated factoring in the self-weight of the waist slab, steps (treads and risers), floor finish, and a residential live load.</a:t>
            </a:r>
          </a:p>
          <a:p>
            <a:pPr marL="285750" lvl="0" indent="-285750" algn="just" eaLnBrk="0" fontAlgn="base" hangingPunct="0">
              <a:spcBef>
                <a:spcPct val="0"/>
              </a:spcBef>
              <a:spcAft>
                <a:spcPct val="0"/>
              </a:spcAft>
              <a:buFont typeface="Arial" panose="020B0604020202020204" pitchFamily="34" charset="0"/>
              <a:buChar char="•"/>
            </a:pPr>
            <a:r>
              <a:rPr lang="en-US" altLang="en-US" b="1" dirty="0">
                <a:latin typeface="Times New Roman" panose="02020603050405020304" pitchFamily="18" charset="0"/>
                <a:cs typeface="Times New Roman" panose="02020603050405020304" pitchFamily="18" charset="0"/>
              </a:rPr>
              <a:t>Effective Span &amp; Depth:</a:t>
            </a:r>
            <a:r>
              <a:rPr lang="en-US" altLang="en-US" dirty="0">
                <a:latin typeface="Times New Roman" panose="02020603050405020304" pitchFamily="18" charset="0"/>
                <a:cs typeface="Times New Roman" panose="02020603050405020304" pitchFamily="18" charset="0"/>
              </a:rPr>
              <a:t> The effective span was determined based on support conditions, and the waist slab thickness was designed to resist the maximum bending moment.</a:t>
            </a:r>
          </a:p>
          <a:p>
            <a:pPr marL="285750" lvl="0" indent="-285750" algn="just" eaLnBrk="0" fontAlgn="base" hangingPunct="0">
              <a:spcBef>
                <a:spcPct val="0"/>
              </a:spcBef>
              <a:spcAft>
                <a:spcPct val="0"/>
              </a:spcAft>
              <a:buFont typeface="Arial" panose="020B0604020202020204" pitchFamily="34" charset="0"/>
              <a:buChar char="•"/>
            </a:pPr>
            <a:r>
              <a:rPr lang="en-US" altLang="en-US" b="1" dirty="0">
                <a:latin typeface="Times New Roman" panose="02020603050405020304" pitchFamily="18" charset="0"/>
                <a:cs typeface="Times New Roman" panose="02020603050405020304" pitchFamily="18" charset="0"/>
              </a:rPr>
              <a:t>Reinforcement:</a:t>
            </a:r>
            <a:r>
              <a:rPr lang="en-US" altLang="en-US" dirty="0">
                <a:latin typeface="Times New Roman" panose="02020603050405020304" pitchFamily="18" charset="0"/>
                <a:cs typeface="Times New Roman" panose="02020603050405020304" pitchFamily="18" charset="0"/>
              </a:rPr>
              <a:t> Main longitudinal steel calculated to resist flexure, with distribution steel provided across the transverse direction.</a:t>
            </a:r>
          </a:p>
        </p:txBody>
      </p:sp>
      <p:sp>
        <p:nvSpPr>
          <p:cNvPr id="10" name="TextBox 9">
            <a:extLst>
              <a:ext uri="{FF2B5EF4-FFF2-40B4-BE49-F238E27FC236}">
                <a16:creationId xmlns:a16="http://schemas.microsoft.com/office/drawing/2014/main" id="{E01920B0-2FA8-09F8-C661-691A6B5EBCE8}"/>
              </a:ext>
            </a:extLst>
          </p:cNvPr>
          <p:cNvSpPr txBox="1"/>
          <p:nvPr/>
        </p:nvSpPr>
        <p:spPr>
          <a:xfrm>
            <a:off x="7900349" y="4987891"/>
            <a:ext cx="3122762" cy="369332"/>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Staircase reinforcement </a:t>
            </a:r>
          </a:p>
        </p:txBody>
      </p:sp>
      <p:pic>
        <p:nvPicPr>
          <p:cNvPr id="7" name="Picture 6">
            <a:extLst>
              <a:ext uri="{FF2B5EF4-FFF2-40B4-BE49-F238E27FC236}">
                <a16:creationId xmlns:a16="http://schemas.microsoft.com/office/drawing/2014/main" id="{B0F1C1CA-14B1-3848-D882-1DA36843E954}"/>
              </a:ext>
            </a:extLst>
          </p:cNvPr>
          <p:cNvPicPr>
            <a:picLocks noChangeAspect="1"/>
          </p:cNvPicPr>
          <p:nvPr/>
        </p:nvPicPr>
        <p:blipFill>
          <a:blip r:embed="rId2"/>
          <a:stretch>
            <a:fillRect/>
          </a:stretch>
        </p:blipFill>
        <p:spPr>
          <a:xfrm>
            <a:off x="7319422" y="1500777"/>
            <a:ext cx="3987370" cy="1667133"/>
          </a:xfrm>
          <a:prstGeom prst="rect">
            <a:avLst/>
          </a:prstGeom>
        </p:spPr>
      </p:pic>
      <p:pic>
        <p:nvPicPr>
          <p:cNvPr id="9" name="Picture 8">
            <a:extLst>
              <a:ext uri="{FF2B5EF4-FFF2-40B4-BE49-F238E27FC236}">
                <a16:creationId xmlns:a16="http://schemas.microsoft.com/office/drawing/2014/main" id="{2393EC3A-ABAE-3C9A-2E0A-09853E4F3DB4}"/>
              </a:ext>
            </a:extLst>
          </p:cNvPr>
          <p:cNvPicPr>
            <a:picLocks noChangeAspect="1"/>
          </p:cNvPicPr>
          <p:nvPr/>
        </p:nvPicPr>
        <p:blipFill>
          <a:blip r:embed="rId3"/>
          <a:stretch>
            <a:fillRect/>
          </a:stretch>
        </p:blipFill>
        <p:spPr>
          <a:xfrm>
            <a:off x="7319422" y="3256526"/>
            <a:ext cx="3987370" cy="1667133"/>
          </a:xfrm>
          <a:prstGeom prst="rect">
            <a:avLst/>
          </a:prstGeom>
        </p:spPr>
      </p:pic>
    </p:spTree>
    <p:extLst>
      <p:ext uri="{BB962C8B-B14F-4D97-AF65-F5344CB8AC3E}">
        <p14:creationId xmlns:p14="http://schemas.microsoft.com/office/powerpoint/2010/main" val="29138897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41ED7-92B1-F23C-7C5F-2B2F6DE59C5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A5C1886-FD9E-4202-E5D1-D268A35C2D63}"/>
              </a:ext>
            </a:extLst>
          </p:cNvPr>
          <p:cNvSpPr txBox="1"/>
          <p:nvPr/>
        </p:nvSpPr>
        <p:spPr>
          <a:xfrm>
            <a:off x="2431255" y="611761"/>
            <a:ext cx="7329489"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CONCLUSION &amp; COST EFFICIENCY</a:t>
            </a:r>
          </a:p>
        </p:txBody>
      </p:sp>
      <p:sp>
        <p:nvSpPr>
          <p:cNvPr id="6" name="TextBox 5">
            <a:extLst>
              <a:ext uri="{FF2B5EF4-FFF2-40B4-BE49-F238E27FC236}">
                <a16:creationId xmlns:a16="http://schemas.microsoft.com/office/drawing/2014/main" id="{FE4BC72B-9BE2-2848-42A7-45F61EC069E4}"/>
              </a:ext>
            </a:extLst>
          </p:cNvPr>
          <p:cNvSpPr txBox="1"/>
          <p:nvPr/>
        </p:nvSpPr>
        <p:spPr>
          <a:xfrm>
            <a:off x="1141115" y="1935134"/>
            <a:ext cx="9488785" cy="3693319"/>
          </a:xfrm>
          <a:prstGeom prst="rect">
            <a:avLst/>
          </a:prstGeom>
          <a:noFill/>
        </p:spPr>
        <p:txBody>
          <a:bodyPr wrap="square" anchor="t">
            <a:spAutoFit/>
          </a:bodyPr>
          <a:lstStyle/>
          <a:p>
            <a:pPr marL="285750" lvl="0" indent="-285750" algn="just" eaLnBrk="0" fontAlgn="base" hangingPunct="0">
              <a:spcBef>
                <a:spcPct val="0"/>
              </a:spcBef>
              <a:spcAft>
                <a:spcPct val="0"/>
              </a:spcAft>
              <a:buFont typeface="Arial" panose="020B0604020202020204" pitchFamily="34" charset="0"/>
              <a:buChar char="•"/>
            </a:pPr>
            <a:r>
              <a:rPr lang="en-US" altLang="en-US" b="1" dirty="0">
                <a:latin typeface="Times New Roman" panose="02020603050405020304" pitchFamily="18" charset="0"/>
                <a:cs typeface="Times New Roman" panose="02020603050405020304" pitchFamily="18" charset="0"/>
              </a:rPr>
              <a:t>Structural Integrity:</a:t>
            </a:r>
            <a:r>
              <a:rPr lang="en-US" altLang="en-US" dirty="0">
                <a:latin typeface="Times New Roman" panose="02020603050405020304" pitchFamily="18" charset="0"/>
                <a:cs typeface="Times New Roman" panose="02020603050405020304" pitchFamily="18" charset="0"/>
              </a:rPr>
              <a:t> The manual "Planning, Analysis, and Design" process confirms the G+0 structure is safe, stable, and fully compliant with IS 456:2000, IS 875, and NBC 2016.</a:t>
            </a:r>
          </a:p>
          <a:p>
            <a:pPr marL="285750" lvl="0" indent="-285750" algn="just" eaLnBrk="0" fontAlgn="base" hangingPunct="0">
              <a:spcBef>
                <a:spcPct val="0"/>
              </a:spcBef>
              <a:spcAft>
                <a:spcPct val="0"/>
              </a:spcAft>
              <a:buFont typeface="Arial" panose="020B0604020202020204" pitchFamily="34" charset="0"/>
              <a:buChar char="•"/>
            </a:pPr>
            <a:endParaRPr lang="en-US" altLang="en-US" dirty="0">
              <a:latin typeface="Times New Roman" panose="02020603050405020304" pitchFamily="18" charset="0"/>
              <a:cs typeface="Times New Roman" panose="02020603050405020304" pitchFamily="18" charset="0"/>
            </a:endParaRPr>
          </a:p>
          <a:p>
            <a:pPr marL="285750" lvl="0" indent="-285750" algn="just" eaLnBrk="0" fontAlgn="base" hangingPunct="0">
              <a:spcBef>
                <a:spcPct val="0"/>
              </a:spcBef>
              <a:spcAft>
                <a:spcPct val="0"/>
              </a:spcAft>
              <a:buFont typeface="Arial" panose="020B0604020202020204" pitchFamily="34" charset="0"/>
              <a:buChar char="•"/>
            </a:pPr>
            <a:r>
              <a:rPr lang="en-US" altLang="en-US" b="1" dirty="0">
                <a:latin typeface="Times New Roman" panose="02020603050405020304" pitchFamily="18" charset="0"/>
                <a:cs typeface="Times New Roman" panose="02020603050405020304" pitchFamily="18" charset="0"/>
              </a:rPr>
              <a:t>Methodology Validation:</a:t>
            </a:r>
            <a:r>
              <a:rPr lang="en-US" altLang="en-US" dirty="0">
                <a:latin typeface="Times New Roman" panose="02020603050405020304" pitchFamily="18" charset="0"/>
                <a:cs typeface="Times New Roman" panose="02020603050405020304" pitchFamily="18" charset="0"/>
              </a:rPr>
              <a:t> Executing calculations by hand (Kani’s Method, Limit State Design) eliminated the over-estimation of materials often caused by software defaults.</a:t>
            </a:r>
          </a:p>
          <a:p>
            <a:pPr marL="285750" lvl="0" indent="-285750" algn="just" eaLnBrk="0" fontAlgn="base" hangingPunct="0">
              <a:spcBef>
                <a:spcPct val="0"/>
              </a:spcBef>
              <a:spcAft>
                <a:spcPct val="0"/>
              </a:spcAft>
              <a:buFont typeface="Arial" panose="020B0604020202020204" pitchFamily="34" charset="0"/>
              <a:buChar char="•"/>
            </a:pPr>
            <a:endParaRPr lang="en-US" altLang="en-US" dirty="0">
              <a:latin typeface="Times New Roman" panose="02020603050405020304" pitchFamily="18" charset="0"/>
              <a:cs typeface="Times New Roman" panose="02020603050405020304" pitchFamily="18" charset="0"/>
            </a:endParaRPr>
          </a:p>
          <a:p>
            <a:pPr marL="285750" lvl="0" indent="-285750" algn="just" eaLnBrk="0" fontAlgn="base" hangingPunct="0">
              <a:spcBef>
                <a:spcPct val="0"/>
              </a:spcBef>
              <a:spcAft>
                <a:spcPct val="0"/>
              </a:spcAft>
              <a:buFont typeface="Arial" panose="020B0604020202020204" pitchFamily="34" charset="0"/>
              <a:buChar char="•"/>
            </a:pPr>
            <a:r>
              <a:rPr lang="en-US" altLang="en-US" b="1" dirty="0">
                <a:latin typeface="Times New Roman" panose="02020603050405020304" pitchFamily="18" charset="0"/>
                <a:cs typeface="Times New Roman" panose="02020603050405020304" pitchFamily="18" charset="0"/>
              </a:rPr>
              <a:t>Economic Success:</a:t>
            </a:r>
            <a:r>
              <a:rPr lang="en-US" altLang="en-US" dirty="0">
                <a:latin typeface="Times New Roman" panose="02020603050405020304" pitchFamily="18" charset="0"/>
                <a:cs typeface="Times New Roman" panose="02020603050405020304" pitchFamily="18" charset="0"/>
              </a:rPr>
              <a:t> By optimizing components (e.g., restricting slab depth to 100mm, precise steel percentage calculations), the structural framework strictly aligns with the scheme's </a:t>
            </a:r>
            <a:r>
              <a:rPr lang="en-US" altLang="en-US" b="1" dirty="0">
                <a:latin typeface="Times New Roman" panose="02020603050405020304" pitchFamily="18" charset="0"/>
                <a:cs typeface="Times New Roman" panose="02020603050405020304" pitchFamily="18" charset="0"/>
              </a:rPr>
              <a:t>₹5,00,000</a:t>
            </a:r>
            <a:r>
              <a:rPr lang="en-US" altLang="en-US" dirty="0">
                <a:latin typeface="Times New Roman" panose="02020603050405020304" pitchFamily="18" charset="0"/>
                <a:cs typeface="Times New Roman" panose="02020603050405020304" pitchFamily="18" charset="0"/>
              </a:rPr>
              <a:t> financial assistance limit.</a:t>
            </a:r>
          </a:p>
          <a:p>
            <a:pPr marL="285750" lvl="0" indent="-285750" algn="just" eaLnBrk="0" fontAlgn="base" hangingPunct="0">
              <a:spcBef>
                <a:spcPct val="0"/>
              </a:spcBef>
              <a:spcAft>
                <a:spcPct val="0"/>
              </a:spcAft>
              <a:buFont typeface="Arial" panose="020B0604020202020204" pitchFamily="34" charset="0"/>
              <a:buChar char="•"/>
            </a:pPr>
            <a:endParaRPr lang="en-US" altLang="en-US" dirty="0">
              <a:latin typeface="Times New Roman" panose="02020603050405020304" pitchFamily="18" charset="0"/>
              <a:cs typeface="Times New Roman" panose="02020603050405020304" pitchFamily="18" charset="0"/>
            </a:endParaRPr>
          </a:p>
          <a:p>
            <a:pPr marL="285750" lvl="0" indent="-285750" algn="just" eaLnBrk="0" fontAlgn="base" hangingPunct="0">
              <a:spcBef>
                <a:spcPct val="0"/>
              </a:spcBef>
              <a:spcAft>
                <a:spcPct val="0"/>
              </a:spcAft>
              <a:buFont typeface="Arial" panose="020B0604020202020204" pitchFamily="34" charset="0"/>
              <a:buChar char="•"/>
            </a:pPr>
            <a:r>
              <a:rPr lang="en-US" altLang="en-US" b="1" dirty="0">
                <a:latin typeface="Times New Roman" panose="02020603050405020304" pitchFamily="18" charset="0"/>
                <a:cs typeface="Times New Roman" panose="02020603050405020304" pitchFamily="18" charset="0"/>
              </a:rPr>
              <a:t>Final Verdict:</a:t>
            </a:r>
            <a:r>
              <a:rPr lang="en-US" altLang="en-US" dirty="0">
                <a:latin typeface="Times New Roman" panose="02020603050405020304" pitchFamily="18" charset="0"/>
                <a:cs typeface="Times New Roman" panose="02020603050405020304" pitchFamily="18" charset="0"/>
              </a:rPr>
              <a:t> The project proves that rigorous, fundamental civil engineering practices can successfully bridge the gap between structural safety and economic affordability for EWS/BPL families.</a:t>
            </a:r>
          </a:p>
        </p:txBody>
      </p:sp>
    </p:spTree>
    <p:extLst>
      <p:ext uri="{BB962C8B-B14F-4D97-AF65-F5344CB8AC3E}">
        <p14:creationId xmlns:p14="http://schemas.microsoft.com/office/powerpoint/2010/main" val="17812578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D2D54D-7D30-4D8D-7B4C-8E2A2AD9AF2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DCD223D-266E-4BB1-06EA-6233A3D01B8E}"/>
              </a:ext>
            </a:extLst>
          </p:cNvPr>
          <p:cNvSpPr txBox="1"/>
          <p:nvPr/>
        </p:nvSpPr>
        <p:spPr>
          <a:xfrm>
            <a:off x="4714875" y="3429000"/>
            <a:ext cx="6096000" cy="646331"/>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THANK YOU</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floor is open for questions.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572058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305</TotalTime>
  <Words>1435</Words>
  <Application>Microsoft Office PowerPoint</Application>
  <PresentationFormat>Widescreen</PresentationFormat>
  <Paragraphs>110</Paragraphs>
  <Slides>13</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Aptos</vt:lpstr>
      <vt:lpstr>Aptos Display</vt:lpstr>
      <vt:lpstr>Arial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 RAHMAN</dc:creator>
  <cp:lastModifiedBy>SA RAHMAN</cp:lastModifiedBy>
  <cp:revision>17</cp:revision>
  <dcterms:created xsi:type="dcterms:W3CDTF">2025-11-18T14:30:06Z</dcterms:created>
  <dcterms:modified xsi:type="dcterms:W3CDTF">2026-04-09T16:32:26Z</dcterms:modified>
</cp:coreProperties>
</file>